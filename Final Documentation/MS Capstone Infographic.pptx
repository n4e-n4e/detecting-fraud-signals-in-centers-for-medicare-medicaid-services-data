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6"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C06368-B02F-4F2E-9B26-BC62077FDBEA}" v="176" dt="2026-05-13T06:26:41.7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32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7B35B6-F964-46DC-A244-00BD534B3C4E}" type="datetimeFigureOut">
              <a:rPr lang="en-US" smtClean="0"/>
              <a:t>5/22/2026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E4C88-723E-4DDD-94CE-C1F43D360943}" type="slidenum">
              <a:rPr lang="en-US" smtClean="0"/>
              <a:t>‹#›</a:t>
            </a:fld>
            <a:endParaRPr lang="en-US"/>
          </a:p>
        </p:txBody>
      </p:sp>
    </p:spTree>
    <p:extLst>
      <p:ext uri="{BB962C8B-B14F-4D97-AF65-F5344CB8AC3E}">
        <p14:creationId xmlns:p14="http://schemas.microsoft.com/office/powerpoint/2010/main" val="1906890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2E4C88-723E-4DDD-94CE-C1F43D360943}" type="slidenum">
              <a:rPr lang="en-US" smtClean="0"/>
              <a:t>1</a:t>
            </a:fld>
            <a:endParaRPr lang="en-US"/>
          </a:p>
        </p:txBody>
      </p:sp>
    </p:spTree>
    <p:extLst>
      <p:ext uri="{BB962C8B-B14F-4D97-AF65-F5344CB8AC3E}">
        <p14:creationId xmlns:p14="http://schemas.microsoft.com/office/powerpoint/2010/main" val="2096314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717009-DDDC-4919-A1A6-C00C16D2E163}"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117546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17009-DDDC-4919-A1A6-C00C16D2E163}"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3740067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717009-DDDC-4919-A1A6-C00C16D2E163}"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1477009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717009-DDDC-4919-A1A6-C00C16D2E163}"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4202391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717009-DDDC-4919-A1A6-C00C16D2E163}"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4062048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717009-DDDC-4919-A1A6-C00C16D2E163}"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3299959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717009-DDDC-4919-A1A6-C00C16D2E163}"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1363736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D717009-DDDC-4919-A1A6-C00C16D2E163}"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1612719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D717009-DDDC-4919-A1A6-C00C16D2E163}"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1966075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17009-DDDC-4919-A1A6-C00C16D2E163}"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100257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17009-DDDC-4919-A1A6-C00C16D2E163}"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CB76D-0B06-448B-9A0C-9325E6948631}" type="slidenum">
              <a:rPr lang="en-US" smtClean="0"/>
              <a:t>‹#›</a:t>
            </a:fld>
            <a:endParaRPr lang="en-US"/>
          </a:p>
        </p:txBody>
      </p:sp>
    </p:spTree>
    <p:extLst>
      <p:ext uri="{BB962C8B-B14F-4D97-AF65-F5344CB8AC3E}">
        <p14:creationId xmlns:p14="http://schemas.microsoft.com/office/powerpoint/2010/main" val="3942745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CD717009-DDDC-4919-A1A6-C00C16D2E163}" type="datetimeFigureOut">
              <a:rPr lang="en-US" smtClean="0"/>
              <a:t>5/22/2026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0CACB76D-0B06-448B-9A0C-9325E6948631}" type="slidenum">
              <a:rPr lang="en-US" smtClean="0"/>
              <a:t>‹#›</a:t>
            </a:fld>
            <a:endParaRPr lang="en-US"/>
          </a:p>
        </p:txBody>
      </p:sp>
    </p:spTree>
    <p:extLst>
      <p:ext uri="{BB962C8B-B14F-4D97-AF65-F5344CB8AC3E}">
        <p14:creationId xmlns:p14="http://schemas.microsoft.com/office/powerpoint/2010/main" val="3886916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7.svg"/><Relationship Id="rId18" Type="http://schemas.openxmlformats.org/officeDocument/2006/relationships/image" Target="../media/image12.png"/><Relationship Id="rId26" Type="http://schemas.openxmlformats.org/officeDocument/2006/relationships/image" Target="../media/image20.png"/><Relationship Id="rId3" Type="http://schemas.openxmlformats.org/officeDocument/2006/relationships/image" Target="../media/image1.png"/><Relationship Id="rId21" Type="http://schemas.openxmlformats.org/officeDocument/2006/relationships/image" Target="../media/image15.svg"/><Relationship Id="rId7" Type="http://schemas.openxmlformats.org/officeDocument/2006/relationships/image" Target="../media/image3.png"/><Relationship Id="rId12" Type="http://schemas.openxmlformats.org/officeDocument/2006/relationships/image" Target="../media/image6.png"/><Relationship Id="rId17" Type="http://schemas.openxmlformats.org/officeDocument/2006/relationships/image" Target="../media/image11.svg"/><Relationship Id="rId25"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0.svg"/><Relationship Id="rId20" Type="http://schemas.openxmlformats.org/officeDocument/2006/relationships/image" Target="../media/image14.svg"/><Relationship Id="rId29" Type="http://schemas.openxmlformats.org/officeDocument/2006/relationships/image" Target="../media/image23.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5.svg"/><Relationship Id="rId24" Type="http://schemas.openxmlformats.org/officeDocument/2006/relationships/image" Target="../media/image18.png"/><Relationship Id="rId5" Type="http://schemas.openxmlformats.org/officeDocument/2006/relationships/image" Target="../media/image2.png"/><Relationship Id="rId15" Type="http://schemas.openxmlformats.org/officeDocument/2006/relationships/image" Target="../media/image9.svg"/><Relationship Id="rId23" Type="http://schemas.openxmlformats.org/officeDocument/2006/relationships/image" Target="../media/image17.svg"/><Relationship Id="rId28" Type="http://schemas.openxmlformats.org/officeDocument/2006/relationships/image" Target="../media/image22.png"/><Relationship Id="rId10" Type="http://schemas.microsoft.com/office/2007/relationships/hdphoto" Target="../media/hdphoto4.wdp"/><Relationship Id="rId19" Type="http://schemas.openxmlformats.org/officeDocument/2006/relationships/image" Target="../media/image13.png"/><Relationship Id="rId31"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4.png"/><Relationship Id="rId14" Type="http://schemas.openxmlformats.org/officeDocument/2006/relationships/image" Target="../media/image8.svg"/><Relationship Id="rId22" Type="http://schemas.openxmlformats.org/officeDocument/2006/relationships/image" Target="../media/image16.png"/><Relationship Id="rId27" Type="http://schemas.openxmlformats.org/officeDocument/2006/relationships/image" Target="../media/image21.png"/><Relationship Id="rId30"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6815AEC-EA98-1D8C-D554-75EE7350F41C}"/>
              </a:ext>
            </a:extLst>
          </p:cNvPr>
          <p:cNvSpPr>
            <a:spLocks noGrp="1" noRot="1" noMove="1" noResize="1" noEditPoints="1" noAdjustHandles="1" noChangeArrowheads="1" noChangeShapeType="1"/>
          </p:cNvSpPr>
          <p:nvPr/>
        </p:nvSpPr>
        <p:spPr>
          <a:xfrm>
            <a:off x="154062" y="137307"/>
            <a:ext cx="6555783" cy="9639946"/>
          </a:xfrm>
          <a:prstGeom prst="roundRect">
            <a:avLst>
              <a:gd name="adj" fmla="val 21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Program">
            <a:extLst>
              <a:ext uri="{FF2B5EF4-FFF2-40B4-BE49-F238E27FC236}">
                <a16:creationId xmlns:a16="http://schemas.microsoft.com/office/drawing/2014/main" id="{38CCC931-5CB4-E60D-1ABB-6D223CD7E4F8}"/>
              </a:ext>
            </a:extLst>
          </p:cNvPr>
          <p:cNvSpPr txBox="1">
            <a:spLocks noGrp="1" noRot="1" noMove="1" noResize="1" noEditPoints="1" noAdjustHandles="1" noChangeArrowheads="1" noChangeShapeType="1"/>
          </p:cNvSpPr>
          <p:nvPr/>
        </p:nvSpPr>
        <p:spPr>
          <a:xfrm>
            <a:off x="1532405" y="-27037"/>
            <a:ext cx="3847596" cy="215444"/>
          </a:xfrm>
          <a:prstGeom prst="rect">
            <a:avLst/>
          </a:prstGeom>
          <a:noFill/>
        </p:spPr>
        <p:txBody>
          <a:bodyPr wrap="square" rtlCol="0">
            <a:spAutoFit/>
          </a:bodyPr>
          <a:lstStyle/>
          <a:p>
            <a:pPr algn="ctr"/>
            <a:r>
              <a:rPr lang="en-US" sz="750" dirty="0">
                <a:solidFill>
                  <a:schemeClr val="bg1"/>
                </a:solidFill>
                <a:latin typeface="Arial" panose="020B0604020202020204" pitchFamily="34" charset="0"/>
                <a:cs typeface="Arial" panose="020B0604020202020204" pitchFamily="34" charset="0"/>
              </a:rPr>
              <a:t>SABRINA WOO, CAMERON KASS, NARSIM KAMATH, LOVE AYINDE</a:t>
            </a:r>
          </a:p>
        </p:txBody>
      </p:sp>
      <p:sp>
        <p:nvSpPr>
          <p:cNvPr id="5" name="Names">
            <a:extLst>
              <a:ext uri="{FF2B5EF4-FFF2-40B4-BE49-F238E27FC236}">
                <a16:creationId xmlns:a16="http://schemas.microsoft.com/office/drawing/2014/main" id="{99E58968-924B-5FAE-41ED-04D5D1CBA616}"/>
              </a:ext>
            </a:extLst>
          </p:cNvPr>
          <p:cNvSpPr txBox="1">
            <a:spLocks noGrp="1" noRot="1" noMove="1" noResize="1" noEditPoints="1" noAdjustHandles="1" noChangeArrowheads="1" noChangeShapeType="1"/>
          </p:cNvSpPr>
          <p:nvPr/>
        </p:nvSpPr>
        <p:spPr>
          <a:xfrm>
            <a:off x="1505201" y="9737374"/>
            <a:ext cx="3847596" cy="323165"/>
          </a:xfrm>
          <a:prstGeom prst="rect">
            <a:avLst/>
          </a:prstGeom>
          <a:noFill/>
        </p:spPr>
        <p:txBody>
          <a:bodyPr wrap="square" rtlCol="0">
            <a:spAutoFit/>
          </a:bodyPr>
          <a:lstStyle/>
          <a:p>
            <a:pPr algn="ctr"/>
            <a:r>
              <a:rPr lang="en-US" sz="750" dirty="0">
                <a:solidFill>
                  <a:schemeClr val="bg1"/>
                </a:solidFill>
                <a:latin typeface="Arial" panose="020B0604020202020204" pitchFamily="34" charset="0"/>
                <a:cs typeface="Arial" panose="020B0604020202020204" pitchFamily="34" charset="0"/>
              </a:rPr>
              <a:t>MASTERS IN SCIENCE DATA SCIENCE AND ANALYTICS PROGRAM</a:t>
            </a:r>
          </a:p>
          <a:p>
            <a:pPr algn="ctr"/>
            <a:endParaRPr lang="en-US" sz="750" dirty="0">
              <a:solidFill>
                <a:schemeClr val="bg1"/>
              </a:solidFill>
              <a:latin typeface="Arial" panose="020B0604020202020204" pitchFamily="34" charset="0"/>
              <a:cs typeface="Arial" panose="020B0604020202020204" pitchFamily="34" charset="0"/>
            </a:endParaRPr>
          </a:p>
        </p:txBody>
      </p:sp>
      <p:pic>
        <p:nvPicPr>
          <p:cNvPr id="7" name="MU Logo">
            <a:extLst>
              <a:ext uri="{FF2B5EF4-FFF2-40B4-BE49-F238E27FC236}">
                <a16:creationId xmlns:a16="http://schemas.microsoft.com/office/drawing/2014/main" id="{45D65C7B-7D18-9A1F-FA29-1F9666B8E7D8}"/>
              </a:ext>
            </a:extLst>
          </p:cNvPr>
          <p:cNvPicPr>
            <a:picLocks noGrp="1" noRot="1" noChangeAspect="1" noMove="1" noResize="1" noEditPoints="1" noAdjustHandles="1" noChangeArrowheads="1" noChangeShapeType="1" noCrop="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l="1" t="1" r="2745" b="2745"/>
          <a:stretch>
            <a:fillRect/>
          </a:stretch>
        </p:blipFill>
        <p:spPr>
          <a:xfrm>
            <a:off x="6185519" y="169057"/>
            <a:ext cx="442430" cy="477825"/>
          </a:xfrm>
          <a:prstGeom prst="rect">
            <a:avLst/>
          </a:prstGeom>
        </p:spPr>
      </p:pic>
      <p:sp>
        <p:nvSpPr>
          <p:cNvPr id="8" name="Title">
            <a:extLst>
              <a:ext uri="{FF2B5EF4-FFF2-40B4-BE49-F238E27FC236}">
                <a16:creationId xmlns:a16="http://schemas.microsoft.com/office/drawing/2014/main" id="{5A626F40-7500-3D87-F3F6-452C91DFBD1B}"/>
              </a:ext>
            </a:extLst>
          </p:cNvPr>
          <p:cNvSpPr txBox="1">
            <a:spLocks noGrp="1" noRot="1" noMove="1" noResize="1" noEditPoints="1" noAdjustHandles="1" noChangeArrowheads="1" noChangeShapeType="1"/>
          </p:cNvSpPr>
          <p:nvPr/>
        </p:nvSpPr>
        <p:spPr>
          <a:xfrm>
            <a:off x="224782" y="228600"/>
            <a:ext cx="4409211" cy="984885"/>
          </a:xfrm>
          <a:prstGeom prst="rect">
            <a:avLst/>
          </a:prstGeom>
          <a:noFill/>
        </p:spPr>
        <p:txBody>
          <a:bodyPr wrap="square" rtlCol="0">
            <a:spAutoFit/>
          </a:bodyPr>
          <a:lstStyle/>
          <a:p>
            <a:r>
              <a:rPr lang="en-US" sz="2400" dirty="0">
                <a:solidFill>
                  <a:schemeClr val="tx2"/>
                </a:solidFill>
                <a:latin typeface="Arial Black" panose="020B0A04020102020204" pitchFamily="34" charset="0"/>
              </a:rPr>
              <a:t>Detecting Fraud Signals </a:t>
            </a:r>
          </a:p>
          <a:p>
            <a:r>
              <a:rPr lang="en-US" sz="1700" dirty="0">
                <a:solidFill>
                  <a:schemeClr val="tx2"/>
                </a:solidFill>
                <a:latin typeface="Arial Black" panose="020B0A04020102020204" pitchFamily="34" charset="0"/>
              </a:rPr>
              <a:t>in Centers for Medicare and Medicaid (CMS) Data</a:t>
            </a:r>
          </a:p>
        </p:txBody>
      </p:sp>
      <p:cxnSp>
        <p:nvCxnSpPr>
          <p:cNvPr id="30" name="Straight Connector 29">
            <a:extLst>
              <a:ext uri="{FF2B5EF4-FFF2-40B4-BE49-F238E27FC236}">
                <a16:creationId xmlns:a16="http://schemas.microsoft.com/office/drawing/2014/main" id="{EAD5C500-8AD0-120B-1766-AB61A2E14985}"/>
              </a:ext>
            </a:extLst>
          </p:cNvPr>
          <p:cNvCxnSpPr>
            <a:cxnSpLocks noGrp="1" noRot="1" noMove="1" noResize="1" noEditPoints="1" noAdjustHandles="1" noChangeArrowheads="1" noChangeShapeType="1"/>
          </p:cNvCxnSpPr>
          <p:nvPr/>
        </p:nvCxnSpPr>
        <p:spPr>
          <a:xfrm>
            <a:off x="262345" y="2123019"/>
            <a:ext cx="6333309" cy="0"/>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D698850-5B23-AF12-C249-4CC3FAA10A6E}"/>
              </a:ext>
            </a:extLst>
          </p:cNvPr>
          <p:cNvCxnSpPr>
            <a:cxnSpLocks noGrp="1" noRot="1" noMove="1" noResize="1" noEditPoints="1" noAdjustHandles="1" noChangeArrowheads="1" noChangeShapeType="1"/>
          </p:cNvCxnSpPr>
          <p:nvPr/>
        </p:nvCxnSpPr>
        <p:spPr>
          <a:xfrm>
            <a:off x="294640" y="3702053"/>
            <a:ext cx="6333309" cy="0"/>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864CE9F-A87B-F35E-5E9B-AEA795947338}"/>
              </a:ext>
            </a:extLst>
          </p:cNvPr>
          <p:cNvCxnSpPr>
            <a:cxnSpLocks noGrp="1" noRot="1" noMove="1" noResize="1" noEditPoints="1" noAdjustHandles="1" noChangeArrowheads="1" noChangeShapeType="1"/>
          </p:cNvCxnSpPr>
          <p:nvPr/>
        </p:nvCxnSpPr>
        <p:spPr>
          <a:xfrm>
            <a:off x="294640" y="5178191"/>
            <a:ext cx="6333309" cy="0"/>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6696F48-19D4-8434-DD75-7E42C7163434}"/>
              </a:ext>
            </a:extLst>
          </p:cNvPr>
          <p:cNvCxnSpPr>
            <a:cxnSpLocks noGrp="1" noRot="1" noMove="1" noResize="1" noEditPoints="1" noAdjustHandles="1" noChangeArrowheads="1" noChangeShapeType="1"/>
          </p:cNvCxnSpPr>
          <p:nvPr/>
        </p:nvCxnSpPr>
        <p:spPr>
          <a:xfrm>
            <a:off x="289549" y="6716790"/>
            <a:ext cx="6333309" cy="0"/>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8F9A9FD-2B62-6FCC-637D-DCDF36FABB97}"/>
              </a:ext>
            </a:extLst>
          </p:cNvPr>
          <p:cNvCxnSpPr>
            <a:cxnSpLocks noGrp="1" noRot="1" noMove="1" noResize="1" noEditPoints="1" noAdjustHandles="1" noChangeArrowheads="1" noChangeShapeType="1"/>
          </p:cNvCxnSpPr>
          <p:nvPr/>
        </p:nvCxnSpPr>
        <p:spPr>
          <a:xfrm>
            <a:off x="269016" y="8247217"/>
            <a:ext cx="6333309" cy="0"/>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9C765AF-B0B0-8327-D78A-CDDE2E048ECE}"/>
              </a:ext>
            </a:extLst>
          </p:cNvPr>
          <p:cNvSpPr txBox="1"/>
          <p:nvPr/>
        </p:nvSpPr>
        <p:spPr>
          <a:xfrm>
            <a:off x="156751" y="1244355"/>
            <a:ext cx="3573553" cy="784830"/>
          </a:xfrm>
          <a:prstGeom prst="rect">
            <a:avLst/>
          </a:prstGeom>
          <a:noFill/>
        </p:spPr>
        <p:txBody>
          <a:bodyPr wrap="square" rtlCol="0">
            <a:spAutoFit/>
          </a:bodyPr>
          <a:lstStyle/>
          <a:p>
            <a:r>
              <a:rPr lang="en-US" sz="900" dirty="0">
                <a:solidFill>
                  <a:schemeClr val="tx2"/>
                </a:solidFill>
                <a:latin typeface="Arial" panose="020B0604020202020204" pitchFamily="34" charset="0"/>
                <a:cs typeface="Arial" panose="020B0604020202020204" pitchFamily="34" charset="0"/>
              </a:rPr>
              <a:t>Fraud is an </a:t>
            </a:r>
            <a:r>
              <a:rPr lang="en-US" sz="900" b="1" dirty="0">
                <a:solidFill>
                  <a:schemeClr val="tx2"/>
                </a:solidFill>
                <a:latin typeface="Arial" panose="020B0604020202020204" pitchFamily="34" charset="0"/>
                <a:cs typeface="Arial" panose="020B0604020202020204" pitchFamily="34" charset="0"/>
              </a:rPr>
              <a:t>extremely rare event</a:t>
            </a:r>
            <a:r>
              <a:rPr lang="en-US" sz="900" dirty="0">
                <a:solidFill>
                  <a:schemeClr val="tx2"/>
                </a:solidFill>
                <a:latin typeface="Arial" panose="020B0604020202020204" pitchFamily="34" charset="0"/>
                <a:cs typeface="Arial" panose="020B0604020202020204" pitchFamily="34" charset="0"/>
              </a:rPr>
              <a:t>, but there may be signals to uncover. This project focuses on Missouri and bordering states, showing how public CMS data, machine learning, and AI assistants can help fraud investigators and analysts identify fraud signals in </a:t>
            </a:r>
            <a:r>
              <a:rPr lang="en-US" sz="900" b="1" dirty="0">
                <a:solidFill>
                  <a:schemeClr val="tx2"/>
                </a:solidFill>
                <a:latin typeface="Arial" panose="020B0604020202020204" pitchFamily="34" charset="0"/>
                <a:cs typeface="Arial" panose="020B0604020202020204" pitchFamily="34" charset="0"/>
              </a:rPr>
              <a:t>durable medical equipment (DME) </a:t>
            </a:r>
            <a:r>
              <a:rPr lang="en-US" sz="900" dirty="0">
                <a:solidFill>
                  <a:schemeClr val="tx2"/>
                </a:solidFill>
                <a:latin typeface="Arial" panose="020B0604020202020204" pitchFamily="34" charset="0"/>
                <a:cs typeface="Arial" panose="020B0604020202020204" pitchFamily="34" charset="0"/>
              </a:rPr>
              <a:t>data.</a:t>
            </a:r>
          </a:p>
        </p:txBody>
      </p:sp>
      <p:pic>
        <p:nvPicPr>
          <p:cNvPr id="11" name="Picture 10">
            <a:extLst>
              <a:ext uri="{FF2B5EF4-FFF2-40B4-BE49-F238E27FC236}">
                <a16:creationId xmlns:a16="http://schemas.microsoft.com/office/drawing/2014/main" id="{612BE16D-669A-9D2A-9DD5-517D07AD94F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747" b="98690" l="324" r="88997">
                        <a14:foregroundMark x1="8414" y1="41048" x2="46926" y2="43231"/>
                        <a14:foregroundMark x1="46926" y1="43231" x2="54045" y2="23144"/>
                        <a14:foregroundMark x1="54045" y1="23144" x2="71845" y2="15721"/>
                        <a14:foregroundMark x1="71845" y1="15721" x2="85761" y2="34934"/>
                        <a14:foregroundMark x1="85761" y1="34934" x2="79935" y2="63319"/>
                        <a14:foregroundMark x1="79935" y1="63319" x2="66019" y2="90393"/>
                        <a14:foregroundMark x1="66019" y1="90393" x2="37864" y2="96507"/>
                        <a14:foregroundMark x1="37864" y1="96507" x2="18447" y2="82533"/>
                        <a14:foregroundMark x1="18447" y1="82533" x2="7120" y2="64192"/>
                        <a14:foregroundMark x1="7120" y1="64192" x2="11327" y2="37555"/>
                        <a14:foregroundMark x1="11327" y1="49782" x2="37540" y2="60699"/>
                        <a14:foregroundMark x1="37540" y1="60699" x2="25243" y2="55459"/>
                        <a14:foregroundMark x1="42395" y1="51092" x2="38835" y2="74236"/>
                        <a14:foregroundMark x1="38835" y1="74236" x2="28155" y2="46725"/>
                        <a14:foregroundMark x1="13916" y1="75109" x2="48867" y2="79913"/>
                        <a14:foregroundMark x1="48867" y1="79913" x2="60841" y2="78166"/>
                        <a14:foregroundMark x1="33657" y1="87773" x2="56634" y2="90830"/>
                        <a14:foregroundMark x1="56634" y1="90830" x2="59871" y2="89520"/>
                        <a14:foregroundMark x1="324" y1="71616" x2="9385" y2="68559"/>
                        <a14:foregroundMark x1="47249" y1="7860" x2="67314" y2="2620"/>
                        <a14:foregroundMark x1="67314" y1="2620" x2="67638" y2="2620"/>
                        <a14:foregroundMark x1="89320" y1="20524" x2="86084" y2="62445"/>
                        <a14:foregroundMark x1="80906" y1="75109" x2="58576" y2="98253"/>
                        <a14:foregroundMark x1="58576" y1="98253" x2="27832" y2="96507"/>
                        <a14:foregroundMark x1="27832" y1="96507" x2="19741" y2="84279"/>
                        <a14:foregroundMark x1="87379" y1="72489" x2="77670" y2="95633"/>
                        <a14:foregroundMark x1="77670" y1="95633" x2="77346" y2="79476"/>
                        <a14:foregroundMark x1="75081" y1="98690" x2="72492" y2="90830"/>
                        <a14:foregroundMark x1="85113" y1="64629" x2="87379" y2="72926"/>
                        <a14:foregroundMark x1="68932" y1="56769" x2="50162" y2="58952"/>
                        <a14:foregroundMark x1="50162" y1="58952" x2="69579" y2="56769"/>
                        <a14:foregroundMark x1="69579" y1="56769" x2="56634" y2="62445"/>
                      </a14:backgroundRemoval>
                    </a14:imgEffect>
                  </a14:imgLayer>
                </a14:imgProps>
              </a:ext>
            </a:extLst>
          </a:blip>
          <a:srcRect r="5379" b="2105"/>
          <a:stretch>
            <a:fillRect/>
          </a:stretch>
        </p:blipFill>
        <p:spPr>
          <a:xfrm>
            <a:off x="3658325" y="242869"/>
            <a:ext cx="2283350" cy="1750744"/>
          </a:xfrm>
          <a:prstGeom prst="rect">
            <a:avLst/>
          </a:prstGeom>
        </p:spPr>
      </p:pic>
      <p:sp>
        <p:nvSpPr>
          <p:cNvPr id="12" name="TextBox 11">
            <a:extLst>
              <a:ext uri="{FF2B5EF4-FFF2-40B4-BE49-F238E27FC236}">
                <a16:creationId xmlns:a16="http://schemas.microsoft.com/office/drawing/2014/main" id="{A02D1530-8FF7-7D1C-1EF1-5CF237553BCB}"/>
              </a:ext>
            </a:extLst>
          </p:cNvPr>
          <p:cNvSpPr txBox="1"/>
          <p:nvPr/>
        </p:nvSpPr>
        <p:spPr>
          <a:xfrm>
            <a:off x="5723118" y="1304074"/>
            <a:ext cx="977102" cy="784830"/>
          </a:xfrm>
          <a:prstGeom prst="rect">
            <a:avLst/>
          </a:prstGeom>
          <a:noFill/>
        </p:spPr>
        <p:txBody>
          <a:bodyPr wrap="square" rtlCol="0">
            <a:spAutoFit/>
          </a:bodyPr>
          <a:lstStyle/>
          <a:p>
            <a:pPr algn="ctr"/>
            <a:r>
              <a:rPr lang="en-US" sz="900" b="1" dirty="0">
                <a:solidFill>
                  <a:schemeClr val="tx2">
                    <a:lumMod val="90000"/>
                    <a:lumOff val="10000"/>
                  </a:schemeClr>
                </a:solidFill>
              </a:rPr>
              <a:t>FOCUS REGION</a:t>
            </a:r>
          </a:p>
          <a:p>
            <a:pPr algn="ctr"/>
            <a:r>
              <a:rPr lang="en-US" sz="900" dirty="0">
                <a:solidFill>
                  <a:schemeClr val="tx2">
                    <a:lumMod val="90000"/>
                    <a:lumOff val="10000"/>
                  </a:schemeClr>
                </a:solidFill>
              </a:rPr>
              <a:t>Missouri and bordering states</a:t>
            </a:r>
          </a:p>
        </p:txBody>
      </p:sp>
      <p:pic>
        <p:nvPicPr>
          <p:cNvPr id="40" name="Picture 39">
            <a:extLst>
              <a:ext uri="{FF2B5EF4-FFF2-40B4-BE49-F238E27FC236}">
                <a16:creationId xmlns:a16="http://schemas.microsoft.com/office/drawing/2014/main" id="{1BAC6045-D8C3-B7CA-0634-20427B24428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5512" b="96457" l="409" r="97751">
                        <a14:foregroundMark x1="4499" y1="18898" x2="93047" y2="6693"/>
                        <a14:foregroundMark x1="93047" y1="6693" x2="91411" y2="77953"/>
                        <a14:foregroundMark x1="91411" y1="77953" x2="78119" y2="96850"/>
                        <a14:foregroundMark x1="78119" y1="96850" x2="23517" y2="93701"/>
                        <a14:foregroundMark x1="23517" y1="93701" x2="13906" y2="47244"/>
                        <a14:foregroundMark x1="13906" y1="47244" x2="13906" y2="88189"/>
                        <a14:foregroundMark x1="13906" y1="88189" x2="16973" y2="44488"/>
                        <a14:foregroundMark x1="16973" y1="44488" x2="22086" y2="67323"/>
                        <a14:foregroundMark x1="22086" y1="67323" x2="30470" y2="81496"/>
                        <a14:foregroundMark x1="30470" y1="81496" x2="82413" y2="88976"/>
                        <a14:foregroundMark x1="82413" y1="88976" x2="95092" y2="77953"/>
                        <a14:foregroundMark x1="95092" y1="77953" x2="88753" y2="60236"/>
                        <a14:foregroundMark x1="88753" y1="60236" x2="82618" y2="24409"/>
                        <a14:foregroundMark x1="82618" y1="24409" x2="52965" y2="64567"/>
                        <a14:foregroundMark x1="52965" y1="64567" x2="14110" y2="40551"/>
                        <a14:foregroundMark x1="14110" y1="40551" x2="3067" y2="45276"/>
                        <a14:foregroundMark x1="3067" y1="45276" x2="2863" y2="70472"/>
                        <a14:foregroundMark x1="2863" y1="70472" x2="23517" y2="86614"/>
                        <a14:foregroundMark x1="23517" y1="86614" x2="37628" y2="76772"/>
                        <a14:foregroundMark x1="37628" y1="76772" x2="80777" y2="92913"/>
                        <a14:foregroundMark x1="80777" y1="92913" x2="95092" y2="90157"/>
                        <a14:foregroundMark x1="95092" y1="90157" x2="57055" y2="63386"/>
                        <a14:foregroundMark x1="57055" y1="63386" x2="71575" y2="46457"/>
                        <a14:foregroundMark x1="71575" y1="46457" x2="70961" y2="58661"/>
                        <a14:foregroundMark x1="3681" y1="27559" x2="2454" y2="53937"/>
                        <a14:foregroundMark x1="2454" y1="53937" x2="8180" y2="87795"/>
                        <a14:foregroundMark x1="8180" y1="87795" x2="19223" y2="93701"/>
                        <a14:foregroundMark x1="19223" y1="93701" x2="19427" y2="93701"/>
                        <a14:foregroundMark x1="80164" y1="4724" x2="94888" y2="5512"/>
                        <a14:foregroundMark x1="94888" y1="5512" x2="94683" y2="5512"/>
                        <a14:foregroundMark x1="90593" y1="96457" x2="93047" y2="96063"/>
                        <a14:foregroundMark x1="87117" y1="53937" x2="85685" y2="75591"/>
                        <a14:foregroundMark x1="85685" y1="75591" x2="85685" y2="74803"/>
                        <a14:foregroundMark x1="3272" y1="87008" x2="9202" y2="66142"/>
                        <a14:foregroundMark x1="9202" y1="66142" x2="8998" y2="67717"/>
                        <a14:foregroundMark x1="2863" y1="94882" x2="5521" y2="75197"/>
                        <a14:foregroundMark x1="5521" y1="75197" x2="6339" y2="73228"/>
                        <a14:foregroundMark x1="34356" y1="25591" x2="79141" y2="48031"/>
                        <a14:foregroundMark x1="29448" y1="69685" x2="81391" y2="15748"/>
                        <a14:foregroundMark x1="23722" y1="51969" x2="67894" y2="11024"/>
                        <a14:foregroundMark x1="24335" y1="24016" x2="69121" y2="28740"/>
                        <a14:foregroundMark x1="93047" y1="7874" x2="83231" y2="42126"/>
                        <a14:foregroundMark x1="83231" y1="42126" x2="86299" y2="67323"/>
                        <a14:foregroundMark x1="86299" y1="67323" x2="91616" y2="52362"/>
                        <a14:foregroundMark x1="95297" y1="47244" x2="91207" y2="37795"/>
                        <a14:foregroundMark x1="76687" y1="49606" x2="71370" y2="81102"/>
                        <a14:foregroundMark x1="71370" y1="81102" x2="70143" y2="57480"/>
                        <a14:foregroundMark x1="70143" y1="57480" x2="72802" y2="48031"/>
                        <a14:foregroundMark x1="77301" y1="58268" x2="67280" y2="76378"/>
                        <a14:foregroundMark x1="67280" y1="76378" x2="67689" y2="74803"/>
                        <a14:foregroundMark x1="75869" y1="84252" x2="63395" y2="68504"/>
                        <a14:foregroundMark x1="65849" y1="91339" x2="63804" y2="64961"/>
                        <a14:foregroundMark x1="42331" y1="19291" x2="64622" y2="16142"/>
                        <a14:foregroundMark x1="61963" y1="17323" x2="76892" y2="11811"/>
                        <a14:foregroundMark x1="76892" y1="11811" x2="76892" y2="11811"/>
                        <a14:foregroundMark x1="613" y1="74016" x2="1431" y2="92126"/>
                        <a14:foregroundMark x1="89162" y1="96457" x2="97751" y2="92126"/>
                        <a14:foregroundMark x1="93252" y1="47244" x2="93252" y2="55906"/>
                        <a14:foregroundMark x1="94479" y1="65354" x2="92434" y2="70866"/>
                      </a14:backgroundRemoval>
                    </a14:imgEffect>
                  </a14:imgLayer>
                </a14:imgProps>
              </a:ext>
            </a:extLst>
          </a:blip>
          <a:srcRect l="604" r="2127" b="1932"/>
          <a:stretch>
            <a:fillRect/>
          </a:stretch>
        </p:blipFill>
        <p:spPr>
          <a:xfrm>
            <a:off x="238560" y="8748288"/>
            <a:ext cx="1898248" cy="994104"/>
          </a:xfrm>
          <a:prstGeom prst="rect">
            <a:avLst/>
          </a:prstGeom>
        </p:spPr>
      </p:pic>
      <p:sp>
        <p:nvSpPr>
          <p:cNvPr id="42" name="Rectangle: Rounded Corners 41">
            <a:extLst>
              <a:ext uri="{FF2B5EF4-FFF2-40B4-BE49-F238E27FC236}">
                <a16:creationId xmlns:a16="http://schemas.microsoft.com/office/drawing/2014/main" id="{A7387B90-92D1-A4FC-5032-0A02A352E61F}"/>
              </a:ext>
            </a:extLst>
          </p:cNvPr>
          <p:cNvSpPr/>
          <p:nvPr/>
        </p:nvSpPr>
        <p:spPr>
          <a:xfrm>
            <a:off x="5076279" y="8323662"/>
            <a:ext cx="1544412" cy="1397597"/>
          </a:xfrm>
          <a:prstGeom prst="roundRect">
            <a:avLst>
              <a:gd name="adj" fmla="val 8621"/>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Picture 44">
            <a:extLst>
              <a:ext uri="{FF2B5EF4-FFF2-40B4-BE49-F238E27FC236}">
                <a16:creationId xmlns:a16="http://schemas.microsoft.com/office/drawing/2014/main" id="{1FD9CCC4-EFDD-DF3D-B33F-BC1894658BD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8824" b="90000" l="9615" r="89904">
                        <a14:foregroundMark x1="64904" y1="47059" x2="45673" y2="50588"/>
                        <a14:foregroundMark x1="40865" y1="45882" x2="40865" y2="45882"/>
                        <a14:foregroundMark x1="40385" y1="90000" x2="66827" y2="85294"/>
                        <a14:foregroundMark x1="72115" y1="88235" x2="64904" y2="88235"/>
                        <a14:foregroundMark x1="87981" y1="44706" x2="89423" y2="55882"/>
                        <a14:foregroundMark x1="50962" y1="8824" x2="53365" y2="23529"/>
                      </a14:backgroundRemoval>
                    </a14:imgEffect>
                  </a14:imgLayer>
                </a14:imgProps>
              </a:ext>
            </a:extLst>
          </a:blip>
          <a:stretch>
            <a:fillRect/>
          </a:stretch>
        </p:blipFill>
        <p:spPr>
          <a:xfrm>
            <a:off x="5075844" y="9291412"/>
            <a:ext cx="301037" cy="246040"/>
          </a:xfrm>
          <a:prstGeom prst="rect">
            <a:avLst/>
          </a:prstGeom>
        </p:spPr>
      </p:pic>
      <p:pic>
        <p:nvPicPr>
          <p:cNvPr id="47" name="Graphic 46" descr="User with solid fill">
            <a:extLst>
              <a:ext uri="{FF2B5EF4-FFF2-40B4-BE49-F238E27FC236}">
                <a16:creationId xmlns:a16="http://schemas.microsoft.com/office/drawing/2014/main" id="{4B262630-F202-284E-D2F3-8F682351362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99550" y="8664668"/>
            <a:ext cx="301037" cy="301037"/>
          </a:xfrm>
          <a:prstGeom prst="rect">
            <a:avLst/>
          </a:prstGeom>
        </p:spPr>
      </p:pic>
      <p:sp>
        <p:nvSpPr>
          <p:cNvPr id="50" name="Speech Bubble: Rectangle 49">
            <a:extLst>
              <a:ext uri="{FF2B5EF4-FFF2-40B4-BE49-F238E27FC236}">
                <a16:creationId xmlns:a16="http://schemas.microsoft.com/office/drawing/2014/main" id="{7EE1E275-8933-A636-3920-710CD5E0CC02}"/>
              </a:ext>
            </a:extLst>
          </p:cNvPr>
          <p:cNvSpPr/>
          <p:nvPr/>
        </p:nvSpPr>
        <p:spPr>
          <a:xfrm>
            <a:off x="5402218" y="9054605"/>
            <a:ext cx="1166041" cy="635151"/>
          </a:xfrm>
          <a:prstGeom prst="wedgeRectCallout">
            <a:avLst>
              <a:gd name="adj1" fmla="val -53788"/>
              <a:gd name="adj2" fmla="val 138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2">
                    <a:lumMod val="90000"/>
                    <a:lumOff val="10000"/>
                  </a:schemeClr>
                </a:solidFill>
                <a:latin typeface="Arial" panose="020B0604020202020204" pitchFamily="34" charset="0"/>
                <a:cs typeface="Arial" panose="020B0604020202020204" pitchFamily="34" charset="0"/>
              </a:rPr>
              <a:t>Yes, there are business filings available for 2026 </a:t>
            </a:r>
            <a:r>
              <a:rPr lang="en-US" sz="700" i="1" dirty="0">
                <a:solidFill>
                  <a:schemeClr val="tx2">
                    <a:lumMod val="90000"/>
                    <a:lumOff val="10000"/>
                  </a:schemeClr>
                </a:solidFill>
                <a:latin typeface="Arial" panose="020B0604020202020204" pitchFamily="34" charset="0"/>
                <a:cs typeface="Arial" panose="020B0604020202020204" pitchFamily="34" charset="0"/>
              </a:rPr>
              <a:t>[sos.mo.gov/</a:t>
            </a:r>
            <a:r>
              <a:rPr lang="en-US" sz="700" i="1" dirty="0" err="1">
                <a:solidFill>
                  <a:schemeClr val="tx2">
                    <a:lumMod val="90000"/>
                    <a:lumOff val="10000"/>
                  </a:schemeClr>
                </a:solidFill>
                <a:latin typeface="Arial" panose="020B0604020202020204" pitchFamily="34" charset="0"/>
                <a:cs typeface="Arial" panose="020B0604020202020204" pitchFamily="34" charset="0"/>
              </a:rPr>
              <a:t>XHospital</a:t>
            </a:r>
            <a:r>
              <a:rPr lang="en-US" sz="700" i="1" dirty="0">
                <a:solidFill>
                  <a:schemeClr val="tx2">
                    <a:lumMod val="90000"/>
                    <a:lumOff val="10000"/>
                  </a:schemeClr>
                </a:solidFill>
                <a:latin typeface="Arial" panose="020B0604020202020204" pitchFamily="34" charset="0"/>
                <a:cs typeface="Arial" panose="020B0604020202020204" pitchFamily="34" charset="0"/>
              </a:rPr>
              <a:t>]</a:t>
            </a:r>
          </a:p>
        </p:txBody>
      </p:sp>
      <p:sp>
        <p:nvSpPr>
          <p:cNvPr id="51" name="Speech Bubble: Rectangle 50">
            <a:extLst>
              <a:ext uri="{FF2B5EF4-FFF2-40B4-BE49-F238E27FC236}">
                <a16:creationId xmlns:a16="http://schemas.microsoft.com/office/drawing/2014/main" id="{7F3061F7-FF41-2FB1-8C82-6E22617516E8}"/>
              </a:ext>
            </a:extLst>
          </p:cNvPr>
          <p:cNvSpPr/>
          <p:nvPr/>
        </p:nvSpPr>
        <p:spPr>
          <a:xfrm>
            <a:off x="5402219" y="8566151"/>
            <a:ext cx="1166040" cy="395694"/>
          </a:xfrm>
          <a:prstGeom prst="wedgeRectCallout">
            <a:avLst>
              <a:gd name="adj1" fmla="val -53788"/>
              <a:gd name="adj2" fmla="val 1389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2">
                    <a:lumMod val="90000"/>
                    <a:lumOff val="10000"/>
                  </a:schemeClr>
                </a:solidFill>
                <a:latin typeface="Arial" panose="020B0604020202020204" pitchFamily="34" charset="0"/>
                <a:cs typeface="Arial" panose="020B0604020202020204" pitchFamily="34" charset="0"/>
              </a:rPr>
              <a:t>Are there any business filings in MO for X Hospital?</a:t>
            </a:r>
          </a:p>
        </p:txBody>
      </p:sp>
      <p:sp>
        <p:nvSpPr>
          <p:cNvPr id="53" name="TextBox 52">
            <a:extLst>
              <a:ext uri="{FF2B5EF4-FFF2-40B4-BE49-F238E27FC236}">
                <a16:creationId xmlns:a16="http://schemas.microsoft.com/office/drawing/2014/main" id="{6C33CA47-A724-69AA-9D07-4FC4E0AC436A}"/>
              </a:ext>
            </a:extLst>
          </p:cNvPr>
          <p:cNvSpPr txBox="1"/>
          <p:nvPr/>
        </p:nvSpPr>
        <p:spPr>
          <a:xfrm>
            <a:off x="5005556" y="8323663"/>
            <a:ext cx="1676581" cy="230832"/>
          </a:xfrm>
          <a:prstGeom prst="rect">
            <a:avLst/>
          </a:prstGeom>
          <a:noFill/>
        </p:spPr>
        <p:txBody>
          <a:bodyPr wrap="square" rtlCol="0">
            <a:spAutoFit/>
          </a:bodyPr>
          <a:lstStyle/>
          <a:p>
            <a:pPr algn="ctr"/>
            <a:r>
              <a:rPr lang="en-US" sz="900" b="1" dirty="0">
                <a:solidFill>
                  <a:schemeClr val="tx2">
                    <a:lumMod val="75000"/>
                    <a:lumOff val="25000"/>
                  </a:schemeClr>
                </a:solidFill>
              </a:rPr>
              <a:t>AI Assistant Output</a:t>
            </a:r>
          </a:p>
        </p:txBody>
      </p:sp>
      <p:pic>
        <p:nvPicPr>
          <p:cNvPr id="58" name="Picture 57">
            <a:extLst>
              <a:ext uri="{FF2B5EF4-FFF2-40B4-BE49-F238E27FC236}">
                <a16:creationId xmlns:a16="http://schemas.microsoft.com/office/drawing/2014/main" id="{744BCF53-684B-6FC4-D77D-08A30659089E}"/>
              </a:ext>
            </a:extLst>
          </p:cNvPr>
          <p:cNvPicPr>
            <a:picLocks noChangeAspect="1"/>
          </p:cNvPicPr>
          <p:nvPr/>
        </p:nvPicPr>
        <p:blipFill>
          <a:blip r:embed="rId12"/>
          <a:srcRect r="12582" b="9230"/>
          <a:stretch>
            <a:fillRect/>
          </a:stretch>
        </p:blipFill>
        <p:spPr>
          <a:xfrm>
            <a:off x="5894353" y="6953158"/>
            <a:ext cx="446162" cy="413188"/>
          </a:xfrm>
          <a:prstGeom prst="rect">
            <a:avLst/>
          </a:prstGeom>
        </p:spPr>
      </p:pic>
      <p:pic>
        <p:nvPicPr>
          <p:cNvPr id="61" name="Graphic 60" descr="Badge 4 with solid fill">
            <a:extLst>
              <a:ext uri="{FF2B5EF4-FFF2-40B4-BE49-F238E27FC236}">
                <a16:creationId xmlns:a16="http://schemas.microsoft.com/office/drawing/2014/main" id="{D3EE3212-D6F8-B741-B236-2AD336D1FBB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10831" y="6737910"/>
            <a:ext cx="371773" cy="371773"/>
          </a:xfrm>
          <a:prstGeom prst="rect">
            <a:avLst/>
          </a:prstGeom>
        </p:spPr>
      </p:pic>
      <p:pic>
        <p:nvPicPr>
          <p:cNvPr id="63" name="Graphic 62" descr="Badge with solid fill">
            <a:extLst>
              <a:ext uri="{FF2B5EF4-FFF2-40B4-BE49-F238E27FC236}">
                <a16:creationId xmlns:a16="http://schemas.microsoft.com/office/drawing/2014/main" id="{8FD11976-0493-23C5-ECDA-9385F509D79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10455" y="3725732"/>
            <a:ext cx="371773" cy="371773"/>
          </a:xfrm>
          <a:prstGeom prst="rect">
            <a:avLst/>
          </a:prstGeom>
        </p:spPr>
      </p:pic>
      <p:pic>
        <p:nvPicPr>
          <p:cNvPr id="65" name="Graphic 64" descr="Badge 3 with solid fill">
            <a:extLst>
              <a:ext uri="{FF2B5EF4-FFF2-40B4-BE49-F238E27FC236}">
                <a16:creationId xmlns:a16="http://schemas.microsoft.com/office/drawing/2014/main" id="{BB84239C-7B39-53EA-A05D-100F4950E3C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08061" y="5202106"/>
            <a:ext cx="371773" cy="371773"/>
          </a:xfrm>
          <a:prstGeom prst="rect">
            <a:avLst/>
          </a:prstGeom>
        </p:spPr>
      </p:pic>
      <p:pic>
        <p:nvPicPr>
          <p:cNvPr id="67" name="Graphic 66" descr="Badge 5 with solid fill">
            <a:extLst>
              <a:ext uri="{FF2B5EF4-FFF2-40B4-BE49-F238E27FC236}">
                <a16:creationId xmlns:a16="http://schemas.microsoft.com/office/drawing/2014/main" id="{5C8F26EB-1D2D-A108-D55E-C13D44229EF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19311" y="8273925"/>
            <a:ext cx="371773" cy="371773"/>
          </a:xfrm>
          <a:prstGeom prst="rect">
            <a:avLst/>
          </a:prstGeom>
        </p:spPr>
      </p:pic>
      <p:pic>
        <p:nvPicPr>
          <p:cNvPr id="69" name="Graphic 68" descr="Badge 1 with solid fill">
            <a:extLst>
              <a:ext uri="{FF2B5EF4-FFF2-40B4-BE49-F238E27FC236}">
                <a16:creationId xmlns:a16="http://schemas.microsoft.com/office/drawing/2014/main" id="{40F556A4-7AC8-8398-1EAC-E9BDA0C3592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02361" y="2119993"/>
            <a:ext cx="371773" cy="371773"/>
          </a:xfrm>
          <a:prstGeom prst="rect">
            <a:avLst/>
          </a:prstGeom>
        </p:spPr>
      </p:pic>
      <p:pic>
        <p:nvPicPr>
          <p:cNvPr id="71" name="Picture 70">
            <a:extLst>
              <a:ext uri="{FF2B5EF4-FFF2-40B4-BE49-F238E27FC236}">
                <a16:creationId xmlns:a16="http://schemas.microsoft.com/office/drawing/2014/main" id="{39A82727-6B2E-2ECC-13C2-0A69FEC38B9A}"/>
              </a:ext>
            </a:extLst>
          </p:cNvPr>
          <p:cNvPicPr>
            <a:picLocks noChangeAspect="1"/>
          </p:cNvPicPr>
          <p:nvPr/>
        </p:nvPicPr>
        <p:blipFill>
          <a:blip r:embed="rId18"/>
          <a:srcRect l="15902" t="2831" r="10951" b="47824"/>
          <a:stretch>
            <a:fillRect/>
          </a:stretch>
        </p:blipFill>
        <p:spPr>
          <a:xfrm>
            <a:off x="5941675" y="872312"/>
            <a:ext cx="628155" cy="479193"/>
          </a:xfrm>
          <a:prstGeom prst="rect">
            <a:avLst/>
          </a:prstGeom>
        </p:spPr>
      </p:pic>
      <p:pic>
        <p:nvPicPr>
          <p:cNvPr id="75" name="Picture 74">
            <a:extLst>
              <a:ext uri="{FF2B5EF4-FFF2-40B4-BE49-F238E27FC236}">
                <a16:creationId xmlns:a16="http://schemas.microsoft.com/office/drawing/2014/main" id="{1360F7DA-FFB4-8B3B-F76C-F64F3490A0E0}"/>
              </a:ext>
            </a:extLst>
          </p:cNvPr>
          <p:cNvPicPr>
            <a:picLocks noChangeAspect="1"/>
          </p:cNvPicPr>
          <p:nvPr/>
        </p:nvPicPr>
        <p:blipFill>
          <a:blip r:embed="rId19"/>
          <a:stretch>
            <a:fillRect/>
          </a:stretch>
        </p:blipFill>
        <p:spPr>
          <a:xfrm>
            <a:off x="2790057" y="6327123"/>
            <a:ext cx="418969" cy="230383"/>
          </a:xfrm>
          <a:prstGeom prst="rect">
            <a:avLst/>
          </a:prstGeom>
        </p:spPr>
      </p:pic>
      <p:cxnSp>
        <p:nvCxnSpPr>
          <p:cNvPr id="82" name="Straight Connector 81">
            <a:extLst>
              <a:ext uri="{FF2B5EF4-FFF2-40B4-BE49-F238E27FC236}">
                <a16:creationId xmlns:a16="http://schemas.microsoft.com/office/drawing/2014/main" id="{3B02CE5F-66AA-844E-84D7-9B2170097790}"/>
              </a:ext>
            </a:extLst>
          </p:cNvPr>
          <p:cNvCxnSpPr>
            <a:cxnSpLocks/>
          </p:cNvCxnSpPr>
          <p:nvPr/>
        </p:nvCxnSpPr>
        <p:spPr>
          <a:xfrm>
            <a:off x="5632328" y="6881478"/>
            <a:ext cx="0" cy="1229946"/>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007926EF-AC7D-F518-7863-4AA49990F840}"/>
              </a:ext>
            </a:extLst>
          </p:cNvPr>
          <p:cNvSpPr txBox="1"/>
          <p:nvPr/>
        </p:nvSpPr>
        <p:spPr>
          <a:xfrm>
            <a:off x="501345" y="3718357"/>
            <a:ext cx="2048183" cy="461665"/>
          </a:xfrm>
          <a:prstGeom prst="rect">
            <a:avLst/>
          </a:prstGeom>
          <a:noFill/>
        </p:spPr>
        <p:txBody>
          <a:bodyPr wrap="square" rtlCol="0">
            <a:spAutoFit/>
          </a:bodyPr>
          <a:lstStyle/>
          <a:p>
            <a:r>
              <a:rPr lang="en-US" sz="1200" dirty="0">
                <a:solidFill>
                  <a:schemeClr val="tx2">
                    <a:lumMod val="90000"/>
                    <a:lumOff val="10000"/>
                  </a:schemeClr>
                </a:solidFill>
                <a:latin typeface="Arial Black" panose="020B0A04020102020204" pitchFamily="34" charset="0"/>
              </a:rPr>
              <a:t>Identifying Supplier Billing Spikes</a:t>
            </a:r>
          </a:p>
        </p:txBody>
      </p:sp>
      <p:sp>
        <p:nvSpPr>
          <p:cNvPr id="88" name="TextBox 87">
            <a:extLst>
              <a:ext uri="{FF2B5EF4-FFF2-40B4-BE49-F238E27FC236}">
                <a16:creationId xmlns:a16="http://schemas.microsoft.com/office/drawing/2014/main" id="{8D68E7A8-44E1-0BB8-57DE-06F0E36A5145}"/>
              </a:ext>
            </a:extLst>
          </p:cNvPr>
          <p:cNvSpPr txBox="1"/>
          <p:nvPr/>
        </p:nvSpPr>
        <p:spPr>
          <a:xfrm>
            <a:off x="501344" y="6723367"/>
            <a:ext cx="3208152" cy="461665"/>
          </a:xfrm>
          <a:prstGeom prst="rect">
            <a:avLst/>
          </a:prstGeom>
          <a:noFill/>
        </p:spPr>
        <p:txBody>
          <a:bodyPr wrap="square" rtlCol="0">
            <a:spAutoFit/>
          </a:bodyPr>
          <a:lstStyle/>
          <a:p>
            <a:r>
              <a:rPr lang="en-US" sz="1200" dirty="0">
                <a:solidFill>
                  <a:schemeClr val="tx2">
                    <a:lumMod val="90000"/>
                    <a:lumOff val="10000"/>
                  </a:schemeClr>
                </a:solidFill>
                <a:latin typeface="Arial Black" panose="020B0A04020102020204" pitchFamily="34" charset="0"/>
              </a:rPr>
              <a:t>Detecting Fraud Signals Using Machine Learning</a:t>
            </a:r>
          </a:p>
        </p:txBody>
      </p:sp>
      <p:sp>
        <p:nvSpPr>
          <p:cNvPr id="89" name="TextBox 88">
            <a:extLst>
              <a:ext uri="{FF2B5EF4-FFF2-40B4-BE49-F238E27FC236}">
                <a16:creationId xmlns:a16="http://schemas.microsoft.com/office/drawing/2014/main" id="{94A858DF-DE49-30F4-C5E9-007E9CE69DAD}"/>
              </a:ext>
            </a:extLst>
          </p:cNvPr>
          <p:cNvSpPr txBox="1"/>
          <p:nvPr/>
        </p:nvSpPr>
        <p:spPr>
          <a:xfrm>
            <a:off x="526909" y="8270847"/>
            <a:ext cx="2639803" cy="461665"/>
          </a:xfrm>
          <a:prstGeom prst="rect">
            <a:avLst/>
          </a:prstGeom>
          <a:noFill/>
        </p:spPr>
        <p:txBody>
          <a:bodyPr wrap="square" rtlCol="0">
            <a:spAutoFit/>
          </a:bodyPr>
          <a:lstStyle/>
          <a:p>
            <a:r>
              <a:rPr lang="en-US" sz="1200" dirty="0">
                <a:solidFill>
                  <a:schemeClr val="tx2">
                    <a:lumMod val="90000"/>
                    <a:lumOff val="10000"/>
                  </a:schemeClr>
                </a:solidFill>
                <a:latin typeface="Arial Black" panose="020B0A04020102020204" pitchFamily="34" charset="0"/>
              </a:rPr>
              <a:t>Using Agentic AI to Improve Investigation Efficiency</a:t>
            </a:r>
          </a:p>
        </p:txBody>
      </p:sp>
      <p:sp>
        <p:nvSpPr>
          <p:cNvPr id="93" name="TextBox 92">
            <a:extLst>
              <a:ext uri="{FF2B5EF4-FFF2-40B4-BE49-F238E27FC236}">
                <a16:creationId xmlns:a16="http://schemas.microsoft.com/office/drawing/2014/main" id="{082D4FCD-E4A1-9D3C-6949-7954C07A575D}"/>
              </a:ext>
            </a:extLst>
          </p:cNvPr>
          <p:cNvSpPr txBox="1"/>
          <p:nvPr/>
        </p:nvSpPr>
        <p:spPr>
          <a:xfrm>
            <a:off x="492404" y="5192866"/>
            <a:ext cx="4386019" cy="461665"/>
          </a:xfrm>
          <a:prstGeom prst="rect">
            <a:avLst/>
          </a:prstGeom>
          <a:noFill/>
        </p:spPr>
        <p:txBody>
          <a:bodyPr wrap="square" rtlCol="0">
            <a:spAutoFit/>
          </a:bodyPr>
          <a:lstStyle/>
          <a:p>
            <a:r>
              <a:rPr lang="en-US" sz="1200" dirty="0">
                <a:solidFill>
                  <a:schemeClr val="tx2">
                    <a:lumMod val="90000"/>
                    <a:lumOff val="10000"/>
                  </a:schemeClr>
                </a:solidFill>
                <a:latin typeface="Arial Black" panose="020B0A04020102020204" pitchFamily="34" charset="0"/>
              </a:rPr>
              <a:t>Connecting Referring Provider Behavior to Fraud Outcomes</a:t>
            </a:r>
          </a:p>
        </p:txBody>
      </p:sp>
      <p:pic>
        <p:nvPicPr>
          <p:cNvPr id="96" name="Graphic 95" descr="Group of women with solid fill">
            <a:extLst>
              <a:ext uri="{FF2B5EF4-FFF2-40B4-BE49-F238E27FC236}">
                <a16:creationId xmlns:a16="http://schemas.microsoft.com/office/drawing/2014/main" id="{5D29A527-3258-CD73-2BBB-E794BBA97E5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2787435" y="5685139"/>
            <a:ext cx="398219" cy="398219"/>
          </a:xfrm>
          <a:prstGeom prst="rect">
            <a:avLst/>
          </a:prstGeom>
        </p:spPr>
      </p:pic>
      <p:sp>
        <p:nvSpPr>
          <p:cNvPr id="97" name="Oval 96">
            <a:extLst>
              <a:ext uri="{FF2B5EF4-FFF2-40B4-BE49-F238E27FC236}">
                <a16:creationId xmlns:a16="http://schemas.microsoft.com/office/drawing/2014/main" id="{B94F336C-FB74-AB59-5874-3BB01ACDB75C}"/>
              </a:ext>
            </a:extLst>
          </p:cNvPr>
          <p:cNvSpPr/>
          <p:nvPr/>
        </p:nvSpPr>
        <p:spPr>
          <a:xfrm>
            <a:off x="2747047" y="5672209"/>
            <a:ext cx="466942" cy="438297"/>
          </a:xfrm>
          <a:prstGeom prst="ellipse">
            <a:avLst/>
          </a:prstGeom>
          <a:noFill/>
          <a:ln w="9525">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0" name="Graphic 99" descr="Woman with solid fill">
            <a:extLst>
              <a:ext uri="{FF2B5EF4-FFF2-40B4-BE49-F238E27FC236}">
                <a16:creationId xmlns:a16="http://schemas.microsoft.com/office/drawing/2014/main" id="{26FB3674-0544-3E31-E20F-22C593F071C6}"/>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801587" y="5712454"/>
            <a:ext cx="370484" cy="370484"/>
          </a:xfrm>
          <a:prstGeom prst="rect">
            <a:avLst/>
          </a:prstGeom>
        </p:spPr>
      </p:pic>
      <p:sp>
        <p:nvSpPr>
          <p:cNvPr id="101" name="TextBox 100">
            <a:extLst>
              <a:ext uri="{FF2B5EF4-FFF2-40B4-BE49-F238E27FC236}">
                <a16:creationId xmlns:a16="http://schemas.microsoft.com/office/drawing/2014/main" id="{7114876A-1F67-8204-ED16-99EA60038A9D}"/>
              </a:ext>
            </a:extLst>
          </p:cNvPr>
          <p:cNvSpPr txBox="1"/>
          <p:nvPr/>
        </p:nvSpPr>
        <p:spPr>
          <a:xfrm>
            <a:off x="5704734" y="7403538"/>
            <a:ext cx="915957" cy="830997"/>
          </a:xfrm>
          <a:prstGeom prst="rect">
            <a:avLst/>
          </a:prstGeom>
          <a:noFill/>
        </p:spPr>
        <p:txBody>
          <a:bodyPr wrap="square" rtlCol="0">
            <a:spAutoFit/>
          </a:bodyPr>
          <a:lstStyle/>
          <a:p>
            <a:pPr algn="ctr"/>
            <a:r>
              <a:rPr lang="en-US" sz="800" dirty="0">
                <a:solidFill>
                  <a:schemeClr val="tx2"/>
                </a:solidFill>
                <a:latin typeface="Arial" panose="020B0604020202020204" pitchFamily="34" charset="0"/>
                <a:cs typeface="Arial" panose="020B0604020202020204" pitchFamily="34" charset="0"/>
              </a:rPr>
              <a:t>Random Undersampling,</a:t>
            </a:r>
          </a:p>
          <a:p>
            <a:pPr algn="ctr"/>
            <a:r>
              <a:rPr lang="en-US" sz="800" dirty="0" err="1">
                <a:solidFill>
                  <a:schemeClr val="tx2"/>
                </a:solidFill>
                <a:latin typeface="Arial" panose="020B0604020202020204" pitchFamily="34" charset="0"/>
                <a:cs typeface="Arial" panose="020B0604020202020204" pitchFamily="34" charset="0"/>
              </a:rPr>
              <a:t>XGBoost</a:t>
            </a:r>
            <a:r>
              <a:rPr lang="en-US" sz="800" dirty="0">
                <a:solidFill>
                  <a:schemeClr val="tx2"/>
                </a:solidFill>
                <a:latin typeface="Arial" panose="020B0604020202020204" pitchFamily="34" charset="0"/>
                <a:cs typeface="Arial" panose="020B0604020202020204" pitchFamily="34" charset="0"/>
              </a:rPr>
              <a:t>,</a:t>
            </a:r>
          </a:p>
          <a:p>
            <a:pPr algn="ctr"/>
            <a:r>
              <a:rPr lang="en-US" sz="800" dirty="0">
                <a:solidFill>
                  <a:schemeClr val="tx2"/>
                </a:solidFill>
                <a:latin typeface="Arial" panose="020B0604020202020204" pitchFamily="34" charset="0"/>
                <a:cs typeface="Arial" panose="020B0604020202020204" pitchFamily="34" charset="0"/>
              </a:rPr>
              <a:t>No Payment Anomaly Detection Priors</a:t>
            </a:r>
          </a:p>
        </p:txBody>
      </p:sp>
      <p:sp>
        <p:nvSpPr>
          <p:cNvPr id="104" name="TextBox 103">
            <a:extLst>
              <a:ext uri="{FF2B5EF4-FFF2-40B4-BE49-F238E27FC236}">
                <a16:creationId xmlns:a16="http://schemas.microsoft.com/office/drawing/2014/main" id="{02076D4B-2445-AD92-936B-461477E108E8}"/>
              </a:ext>
            </a:extLst>
          </p:cNvPr>
          <p:cNvSpPr txBox="1"/>
          <p:nvPr/>
        </p:nvSpPr>
        <p:spPr>
          <a:xfrm>
            <a:off x="5716948" y="6732508"/>
            <a:ext cx="807677" cy="230832"/>
          </a:xfrm>
          <a:prstGeom prst="rect">
            <a:avLst/>
          </a:prstGeom>
          <a:noFill/>
        </p:spPr>
        <p:txBody>
          <a:bodyPr wrap="square" rtlCol="0">
            <a:spAutoFit/>
          </a:bodyPr>
          <a:lstStyle/>
          <a:p>
            <a:pPr algn="ctr"/>
            <a:r>
              <a:rPr lang="en-US" sz="900" b="1" dirty="0">
                <a:solidFill>
                  <a:schemeClr val="tx2">
                    <a:lumMod val="75000"/>
                    <a:lumOff val="25000"/>
                  </a:schemeClr>
                </a:solidFill>
              </a:rPr>
              <a:t>Best Model</a:t>
            </a:r>
          </a:p>
        </p:txBody>
      </p:sp>
      <p:sp>
        <p:nvSpPr>
          <p:cNvPr id="107" name="TextBox 106">
            <a:extLst>
              <a:ext uri="{FF2B5EF4-FFF2-40B4-BE49-F238E27FC236}">
                <a16:creationId xmlns:a16="http://schemas.microsoft.com/office/drawing/2014/main" id="{539AED87-4F20-6FA6-F7CD-22D9D0F4B253}"/>
              </a:ext>
            </a:extLst>
          </p:cNvPr>
          <p:cNvSpPr txBox="1"/>
          <p:nvPr/>
        </p:nvSpPr>
        <p:spPr>
          <a:xfrm>
            <a:off x="229616" y="4237618"/>
            <a:ext cx="1926442" cy="707886"/>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A sudden spike in billing, especially when supplier activity shifts from none to high volume and then back to none, is a common fraud scheme and suggests unusual behavior.</a:t>
            </a:r>
          </a:p>
        </p:txBody>
      </p:sp>
      <p:sp>
        <p:nvSpPr>
          <p:cNvPr id="108" name="TextBox 107">
            <a:extLst>
              <a:ext uri="{FF2B5EF4-FFF2-40B4-BE49-F238E27FC236}">
                <a16:creationId xmlns:a16="http://schemas.microsoft.com/office/drawing/2014/main" id="{8B7ED937-9991-C035-7B04-676FA18DFE19}"/>
              </a:ext>
            </a:extLst>
          </p:cNvPr>
          <p:cNvSpPr txBox="1"/>
          <p:nvPr/>
        </p:nvSpPr>
        <p:spPr>
          <a:xfrm>
            <a:off x="2143564" y="7113833"/>
            <a:ext cx="1004487" cy="1092607"/>
          </a:xfrm>
          <a:prstGeom prst="rect">
            <a:avLst/>
          </a:prstGeom>
          <a:noFill/>
        </p:spPr>
        <p:txBody>
          <a:bodyPr wrap="square" rtlCol="0">
            <a:spAutoFit/>
          </a:bodyPr>
          <a:lstStyle/>
          <a:p>
            <a:r>
              <a:rPr lang="en-US" sz="900" dirty="0">
                <a:solidFill>
                  <a:schemeClr val="tx2"/>
                </a:solidFill>
                <a:latin typeface="Arial" panose="020B0604020202020204" pitchFamily="34" charset="0"/>
                <a:cs typeface="Arial" panose="020B0604020202020204" pitchFamily="34" charset="0"/>
              </a:rPr>
              <a:t>The model is </a:t>
            </a:r>
            <a:r>
              <a:rPr lang="en-US" sz="1000" b="1" dirty="0">
                <a:solidFill>
                  <a:schemeClr val="tx2">
                    <a:lumMod val="75000"/>
                    <a:lumOff val="25000"/>
                  </a:schemeClr>
                </a:solidFill>
                <a:latin typeface="Arial" panose="020B0604020202020204" pitchFamily="34" charset="0"/>
                <a:cs typeface="Arial" panose="020B0604020202020204" pitchFamily="34" charset="0"/>
              </a:rPr>
              <a:t>50 times more likely</a:t>
            </a:r>
            <a:r>
              <a:rPr lang="en-US" sz="1000" b="1" dirty="0">
                <a:solidFill>
                  <a:schemeClr val="accent4">
                    <a:lumMod val="75000"/>
                  </a:schemeClr>
                </a:solidFill>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to flag a record that is fraud compared to baseline.</a:t>
            </a:r>
            <a:endParaRPr lang="en-US" sz="900" dirty="0">
              <a:solidFill>
                <a:schemeClr val="tx2"/>
              </a:solidFill>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738649CB-0466-0A22-C7D2-DB331D1A0069}"/>
              </a:ext>
            </a:extLst>
          </p:cNvPr>
          <p:cNvSpPr txBox="1"/>
          <p:nvPr/>
        </p:nvSpPr>
        <p:spPr>
          <a:xfrm>
            <a:off x="2075506" y="8829841"/>
            <a:ext cx="1236654" cy="830997"/>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Our AI assistant uses a Model Context Protocol server to search authoritative sources and support transparency.</a:t>
            </a:r>
          </a:p>
        </p:txBody>
      </p:sp>
      <p:sp>
        <p:nvSpPr>
          <p:cNvPr id="111" name="TextBox 110">
            <a:extLst>
              <a:ext uri="{FF2B5EF4-FFF2-40B4-BE49-F238E27FC236}">
                <a16:creationId xmlns:a16="http://schemas.microsoft.com/office/drawing/2014/main" id="{1E983CB0-656D-7D54-E2FB-EE9F40BA1D9B}"/>
              </a:ext>
            </a:extLst>
          </p:cNvPr>
          <p:cNvSpPr txBox="1"/>
          <p:nvPr/>
        </p:nvSpPr>
        <p:spPr>
          <a:xfrm>
            <a:off x="3209026" y="5687555"/>
            <a:ext cx="1779204" cy="338554"/>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We compared providers across specialties and provider types</a:t>
            </a:r>
          </a:p>
        </p:txBody>
      </p:sp>
      <p:sp>
        <p:nvSpPr>
          <p:cNvPr id="112" name="TextBox 111">
            <a:extLst>
              <a:ext uri="{FF2B5EF4-FFF2-40B4-BE49-F238E27FC236}">
                <a16:creationId xmlns:a16="http://schemas.microsoft.com/office/drawing/2014/main" id="{53BB1A4A-52A9-6A31-50DB-C1EA310F0BE3}"/>
              </a:ext>
            </a:extLst>
          </p:cNvPr>
          <p:cNvSpPr txBox="1"/>
          <p:nvPr/>
        </p:nvSpPr>
        <p:spPr>
          <a:xfrm>
            <a:off x="3203304" y="6179224"/>
            <a:ext cx="1826038" cy="461665"/>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We used stats to compare MO and bordering state referring providers across the entire nation</a:t>
            </a:r>
          </a:p>
        </p:txBody>
      </p:sp>
      <p:sp>
        <p:nvSpPr>
          <p:cNvPr id="114" name="TextBox 113">
            <a:extLst>
              <a:ext uri="{FF2B5EF4-FFF2-40B4-BE49-F238E27FC236}">
                <a16:creationId xmlns:a16="http://schemas.microsoft.com/office/drawing/2014/main" id="{D4CD607D-B793-F4A7-1E8F-48DE36BFFD9F}"/>
              </a:ext>
            </a:extLst>
          </p:cNvPr>
          <p:cNvSpPr txBox="1"/>
          <p:nvPr/>
        </p:nvSpPr>
        <p:spPr>
          <a:xfrm>
            <a:off x="3798944" y="6732508"/>
            <a:ext cx="1421015" cy="230832"/>
          </a:xfrm>
          <a:prstGeom prst="rect">
            <a:avLst/>
          </a:prstGeom>
          <a:noFill/>
        </p:spPr>
        <p:txBody>
          <a:bodyPr wrap="square" rtlCol="0">
            <a:spAutoFit/>
          </a:bodyPr>
          <a:lstStyle/>
          <a:p>
            <a:pPr algn="ctr"/>
            <a:r>
              <a:rPr lang="en-US" sz="900" b="1" dirty="0">
                <a:solidFill>
                  <a:schemeClr val="tx2">
                    <a:lumMod val="75000"/>
                    <a:lumOff val="25000"/>
                  </a:schemeClr>
                </a:solidFill>
              </a:rPr>
              <a:t>Top Fraud Signals</a:t>
            </a:r>
          </a:p>
        </p:txBody>
      </p:sp>
      <p:cxnSp>
        <p:nvCxnSpPr>
          <p:cNvPr id="116" name="Straight Connector 115">
            <a:extLst>
              <a:ext uri="{FF2B5EF4-FFF2-40B4-BE49-F238E27FC236}">
                <a16:creationId xmlns:a16="http://schemas.microsoft.com/office/drawing/2014/main" id="{58FC3098-F313-A973-489F-A41446E1A757}"/>
              </a:ext>
            </a:extLst>
          </p:cNvPr>
          <p:cNvCxnSpPr>
            <a:cxnSpLocks/>
          </p:cNvCxnSpPr>
          <p:nvPr/>
        </p:nvCxnSpPr>
        <p:spPr>
          <a:xfrm>
            <a:off x="3184254" y="6887873"/>
            <a:ext cx="0" cy="1229946"/>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454C98D0-20A1-23B4-3EC2-1F65931F6EC8}"/>
              </a:ext>
            </a:extLst>
          </p:cNvPr>
          <p:cNvSpPr txBox="1"/>
          <p:nvPr/>
        </p:nvSpPr>
        <p:spPr>
          <a:xfrm>
            <a:off x="4969952" y="3748814"/>
            <a:ext cx="1685686" cy="230832"/>
          </a:xfrm>
          <a:prstGeom prst="rect">
            <a:avLst/>
          </a:prstGeom>
          <a:noFill/>
        </p:spPr>
        <p:txBody>
          <a:bodyPr wrap="square" rtlCol="0">
            <a:spAutoFit/>
          </a:bodyPr>
          <a:lstStyle/>
          <a:p>
            <a:pPr algn="ctr"/>
            <a:r>
              <a:rPr lang="en-US" sz="900" b="1" dirty="0">
                <a:solidFill>
                  <a:schemeClr val="tx2">
                    <a:lumMod val="75000"/>
                    <a:lumOff val="25000"/>
                  </a:schemeClr>
                </a:solidFill>
              </a:rPr>
              <a:t>Billed Service Categories</a:t>
            </a:r>
          </a:p>
        </p:txBody>
      </p:sp>
      <p:cxnSp>
        <p:nvCxnSpPr>
          <p:cNvPr id="119" name="Straight Connector 118">
            <a:extLst>
              <a:ext uri="{FF2B5EF4-FFF2-40B4-BE49-F238E27FC236}">
                <a16:creationId xmlns:a16="http://schemas.microsoft.com/office/drawing/2014/main" id="{79E43BEF-7946-135C-44BA-B2428F5C74AD}"/>
              </a:ext>
            </a:extLst>
          </p:cNvPr>
          <p:cNvCxnSpPr>
            <a:cxnSpLocks/>
          </p:cNvCxnSpPr>
          <p:nvPr/>
        </p:nvCxnSpPr>
        <p:spPr>
          <a:xfrm>
            <a:off x="4901149" y="2306711"/>
            <a:ext cx="0" cy="1229946"/>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FEA75EA5-6E2A-AF98-9ACB-E0C81E19D774}"/>
              </a:ext>
            </a:extLst>
          </p:cNvPr>
          <p:cNvSpPr txBox="1"/>
          <p:nvPr/>
        </p:nvSpPr>
        <p:spPr>
          <a:xfrm>
            <a:off x="4999673" y="2157135"/>
            <a:ext cx="1647120" cy="338554"/>
          </a:xfrm>
          <a:prstGeom prst="rect">
            <a:avLst/>
          </a:prstGeom>
          <a:noFill/>
        </p:spPr>
        <p:txBody>
          <a:bodyPr wrap="square" rtlCol="0">
            <a:spAutoFit/>
          </a:bodyPr>
          <a:lstStyle/>
          <a:p>
            <a:pPr algn="ctr"/>
            <a:r>
              <a:rPr lang="en-US" sz="800" b="1" dirty="0">
                <a:solidFill>
                  <a:schemeClr val="tx2">
                    <a:lumMod val="75000"/>
                    <a:lumOff val="25000"/>
                  </a:schemeClr>
                </a:solidFill>
              </a:rPr>
              <a:t>Top 3 DME Product Incentive Payments to Providers</a:t>
            </a:r>
          </a:p>
        </p:txBody>
      </p:sp>
      <p:sp>
        <p:nvSpPr>
          <p:cNvPr id="122" name="TextBox 121">
            <a:extLst>
              <a:ext uri="{FF2B5EF4-FFF2-40B4-BE49-F238E27FC236}">
                <a16:creationId xmlns:a16="http://schemas.microsoft.com/office/drawing/2014/main" id="{8A5CE3CA-61D5-C01C-F829-02B89FA795A4}"/>
              </a:ext>
            </a:extLst>
          </p:cNvPr>
          <p:cNvSpPr txBox="1"/>
          <p:nvPr/>
        </p:nvSpPr>
        <p:spPr>
          <a:xfrm>
            <a:off x="4934121" y="3255983"/>
            <a:ext cx="1837107" cy="438582"/>
          </a:xfrm>
          <a:prstGeom prst="rect">
            <a:avLst/>
          </a:prstGeom>
          <a:noFill/>
        </p:spPr>
        <p:txBody>
          <a:bodyPr wrap="square" rtlCol="0">
            <a:spAutoFit/>
          </a:bodyPr>
          <a:lstStyle/>
          <a:p>
            <a:r>
              <a:rPr lang="en-US" sz="750" dirty="0">
                <a:solidFill>
                  <a:schemeClr val="tx2"/>
                </a:solidFill>
                <a:latin typeface="Arial" panose="020B0604020202020204" pitchFamily="34" charset="0"/>
                <a:cs typeface="Arial" panose="020B0604020202020204" pitchFamily="34" charset="0"/>
              </a:rPr>
              <a:t>Fraud investigators can now monitor overall trends of incentive payments in high-risk DME products.</a:t>
            </a:r>
          </a:p>
        </p:txBody>
      </p:sp>
      <p:sp>
        <p:nvSpPr>
          <p:cNvPr id="124" name="TextBox 123">
            <a:extLst>
              <a:ext uri="{FF2B5EF4-FFF2-40B4-BE49-F238E27FC236}">
                <a16:creationId xmlns:a16="http://schemas.microsoft.com/office/drawing/2014/main" id="{888DDE94-9443-B60C-0C69-72A56262C853}"/>
              </a:ext>
            </a:extLst>
          </p:cNvPr>
          <p:cNvSpPr txBox="1"/>
          <p:nvPr/>
        </p:nvSpPr>
        <p:spPr>
          <a:xfrm>
            <a:off x="501345" y="2129848"/>
            <a:ext cx="1631860" cy="623248"/>
          </a:xfrm>
          <a:prstGeom prst="rect">
            <a:avLst/>
          </a:prstGeom>
          <a:noFill/>
        </p:spPr>
        <p:txBody>
          <a:bodyPr wrap="square" rtlCol="0">
            <a:spAutoFit/>
          </a:bodyPr>
          <a:lstStyle/>
          <a:p>
            <a:r>
              <a:rPr lang="en-US" sz="1150" dirty="0">
                <a:solidFill>
                  <a:schemeClr val="tx2">
                    <a:lumMod val="90000"/>
                    <a:lumOff val="10000"/>
                  </a:schemeClr>
                </a:solidFill>
                <a:latin typeface="Arial Black" panose="020B0A04020102020204" pitchFamily="34" charset="0"/>
              </a:rPr>
              <a:t>A New Dimension to DME Fraud Review</a:t>
            </a:r>
          </a:p>
        </p:txBody>
      </p:sp>
      <p:sp>
        <p:nvSpPr>
          <p:cNvPr id="125" name="TextBox 124">
            <a:extLst>
              <a:ext uri="{FF2B5EF4-FFF2-40B4-BE49-F238E27FC236}">
                <a16:creationId xmlns:a16="http://schemas.microsoft.com/office/drawing/2014/main" id="{9D054DB8-7E6A-8825-4425-BFB8A0669F72}"/>
              </a:ext>
            </a:extLst>
          </p:cNvPr>
          <p:cNvSpPr txBox="1"/>
          <p:nvPr/>
        </p:nvSpPr>
        <p:spPr>
          <a:xfrm>
            <a:off x="2146759" y="2132826"/>
            <a:ext cx="2731665" cy="584775"/>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Our project brings together data on key entities across the DME supply chain, including suppliers and providers who may receive incentive payments from manufacturers.</a:t>
            </a:r>
          </a:p>
        </p:txBody>
      </p:sp>
      <p:sp>
        <p:nvSpPr>
          <p:cNvPr id="128" name="TextBox 127">
            <a:extLst>
              <a:ext uri="{FF2B5EF4-FFF2-40B4-BE49-F238E27FC236}">
                <a16:creationId xmlns:a16="http://schemas.microsoft.com/office/drawing/2014/main" id="{B4F2A66D-0985-04BD-D1BD-A6AFB82690FF}"/>
              </a:ext>
            </a:extLst>
          </p:cNvPr>
          <p:cNvSpPr txBox="1"/>
          <p:nvPr/>
        </p:nvSpPr>
        <p:spPr>
          <a:xfrm>
            <a:off x="690849" y="5700177"/>
            <a:ext cx="1957835" cy="461665"/>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of billing records from referring providers have current healthcare exclusions or fraudulent convictions.</a:t>
            </a:r>
          </a:p>
        </p:txBody>
      </p:sp>
      <p:sp>
        <p:nvSpPr>
          <p:cNvPr id="135" name="TextBox 134">
            <a:extLst>
              <a:ext uri="{FF2B5EF4-FFF2-40B4-BE49-F238E27FC236}">
                <a16:creationId xmlns:a16="http://schemas.microsoft.com/office/drawing/2014/main" id="{866BFB1A-44DF-5B7E-1BB6-DEE6C4204582}"/>
              </a:ext>
            </a:extLst>
          </p:cNvPr>
          <p:cNvSpPr txBox="1"/>
          <p:nvPr/>
        </p:nvSpPr>
        <p:spPr>
          <a:xfrm>
            <a:off x="666831" y="6174922"/>
            <a:ext cx="2139127" cy="461665"/>
          </a:xfrm>
          <a:prstGeom prst="rect">
            <a:avLst/>
          </a:prstGeom>
          <a:noFill/>
        </p:spPr>
        <p:txBody>
          <a:bodyPr wrap="square" rtlCol="0">
            <a:spAutoFit/>
          </a:bodyPr>
          <a:lstStyle/>
          <a:p>
            <a:r>
              <a:rPr lang="en-US" sz="800" b="1" dirty="0">
                <a:solidFill>
                  <a:schemeClr val="tx2"/>
                </a:solidFill>
                <a:latin typeface="Arial" panose="020B0604020202020204" pitchFamily="34" charset="0"/>
                <a:cs typeface="Arial" panose="020B0604020202020204" pitchFamily="34" charset="0"/>
              </a:rPr>
              <a:t>Diabetes supplies and Contraceptives are</a:t>
            </a:r>
            <a:r>
              <a:rPr lang="en-US" sz="800" dirty="0">
                <a:solidFill>
                  <a:schemeClr val="tx2"/>
                </a:solidFill>
                <a:latin typeface="Arial" panose="020B0604020202020204" pitchFamily="34" charset="0"/>
                <a:cs typeface="Arial" panose="020B0604020202020204" pitchFamily="34" charset="0"/>
              </a:rPr>
              <a:t> the top billed service code by excluded or convicted providers.</a:t>
            </a:r>
          </a:p>
        </p:txBody>
      </p:sp>
      <p:sp>
        <p:nvSpPr>
          <p:cNvPr id="136" name="TextBox 135">
            <a:extLst>
              <a:ext uri="{FF2B5EF4-FFF2-40B4-BE49-F238E27FC236}">
                <a16:creationId xmlns:a16="http://schemas.microsoft.com/office/drawing/2014/main" id="{29139E11-A09A-65A8-8366-8F514B798449}"/>
              </a:ext>
            </a:extLst>
          </p:cNvPr>
          <p:cNvSpPr txBox="1"/>
          <p:nvPr/>
        </p:nvSpPr>
        <p:spPr>
          <a:xfrm>
            <a:off x="657413" y="2734920"/>
            <a:ext cx="1460545" cy="438582"/>
          </a:xfrm>
          <a:prstGeom prst="rect">
            <a:avLst/>
          </a:prstGeom>
          <a:noFill/>
        </p:spPr>
        <p:txBody>
          <a:bodyPr wrap="square" rtlCol="0">
            <a:spAutoFit/>
          </a:bodyPr>
          <a:lstStyle/>
          <a:p>
            <a:r>
              <a:rPr lang="en-US" sz="750" dirty="0">
                <a:solidFill>
                  <a:schemeClr val="tx2"/>
                </a:solidFill>
                <a:latin typeface="Arial" panose="020B0604020202020204" pitchFamily="34" charset="0"/>
                <a:cs typeface="Arial" panose="020B0604020202020204" pitchFamily="34" charset="0"/>
              </a:rPr>
              <a:t>Open Sunshine Payments are an </a:t>
            </a:r>
            <a:r>
              <a:rPr lang="en-US" sz="750" b="1" dirty="0">
                <a:solidFill>
                  <a:schemeClr val="tx2"/>
                </a:solidFill>
                <a:latin typeface="Arial" panose="020B0604020202020204" pitchFamily="34" charset="0"/>
                <a:cs typeface="Arial" panose="020B0604020202020204" pitchFamily="34" charset="0"/>
              </a:rPr>
              <a:t>untapped data source </a:t>
            </a:r>
            <a:r>
              <a:rPr lang="en-US" sz="750" dirty="0">
                <a:solidFill>
                  <a:schemeClr val="tx2"/>
                </a:solidFill>
                <a:latin typeface="Arial" panose="020B0604020202020204" pitchFamily="34" charset="0"/>
                <a:cs typeface="Arial" panose="020B0604020202020204" pitchFamily="34" charset="0"/>
              </a:rPr>
              <a:t>for fraud review.</a:t>
            </a:r>
          </a:p>
        </p:txBody>
      </p:sp>
      <p:sp>
        <p:nvSpPr>
          <p:cNvPr id="138" name="TextBox 137">
            <a:extLst>
              <a:ext uri="{FF2B5EF4-FFF2-40B4-BE49-F238E27FC236}">
                <a16:creationId xmlns:a16="http://schemas.microsoft.com/office/drawing/2014/main" id="{A8E52929-8129-6BB7-2403-C89AEBD438BD}"/>
              </a:ext>
            </a:extLst>
          </p:cNvPr>
          <p:cNvSpPr txBox="1"/>
          <p:nvPr/>
        </p:nvSpPr>
        <p:spPr>
          <a:xfrm>
            <a:off x="656641" y="3169724"/>
            <a:ext cx="1362947" cy="553998"/>
          </a:xfrm>
          <a:prstGeom prst="rect">
            <a:avLst/>
          </a:prstGeom>
          <a:noFill/>
        </p:spPr>
        <p:txBody>
          <a:bodyPr wrap="square" rtlCol="0">
            <a:spAutoFit/>
          </a:bodyPr>
          <a:lstStyle/>
          <a:p>
            <a:r>
              <a:rPr lang="en-US" sz="750" dirty="0">
                <a:solidFill>
                  <a:schemeClr val="tx2"/>
                </a:solidFill>
                <a:latin typeface="Arial" panose="020B0604020202020204" pitchFamily="34" charset="0"/>
                <a:cs typeface="Arial" panose="020B0604020202020204" pitchFamily="34" charset="0"/>
              </a:rPr>
              <a:t>Advances in </a:t>
            </a:r>
            <a:r>
              <a:rPr lang="en-US" sz="750" b="1" dirty="0">
                <a:solidFill>
                  <a:schemeClr val="tx2"/>
                </a:solidFill>
                <a:latin typeface="Arial" panose="020B0604020202020204" pitchFamily="34" charset="0"/>
                <a:cs typeface="Arial" panose="020B0604020202020204" pitchFamily="34" charset="0"/>
              </a:rPr>
              <a:t>Artificial Intelligence (AI) </a:t>
            </a:r>
            <a:r>
              <a:rPr lang="en-US" sz="750" dirty="0">
                <a:solidFill>
                  <a:schemeClr val="tx2"/>
                </a:solidFill>
                <a:latin typeface="Arial" panose="020B0604020202020204" pitchFamily="34" charset="0"/>
                <a:cs typeface="Arial" panose="020B0604020202020204" pitchFamily="34" charset="0"/>
              </a:rPr>
              <a:t>allow for better categorization of free text product data.</a:t>
            </a:r>
          </a:p>
        </p:txBody>
      </p:sp>
      <p:sp>
        <p:nvSpPr>
          <p:cNvPr id="140" name="Oval 139">
            <a:extLst>
              <a:ext uri="{FF2B5EF4-FFF2-40B4-BE49-F238E27FC236}">
                <a16:creationId xmlns:a16="http://schemas.microsoft.com/office/drawing/2014/main" id="{76CB0113-A2A6-F79B-8DCF-B50387F92A85}"/>
              </a:ext>
            </a:extLst>
          </p:cNvPr>
          <p:cNvSpPr/>
          <p:nvPr/>
        </p:nvSpPr>
        <p:spPr>
          <a:xfrm>
            <a:off x="2766071" y="6194642"/>
            <a:ext cx="466942" cy="438297"/>
          </a:xfrm>
          <a:prstGeom prst="ellipse">
            <a:avLst/>
          </a:prstGeom>
          <a:noFill/>
          <a:ln w="9525">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E9366D7C-45CA-ADA0-2D08-63B5148AA211}"/>
              </a:ext>
            </a:extLst>
          </p:cNvPr>
          <p:cNvSpPr/>
          <p:nvPr/>
        </p:nvSpPr>
        <p:spPr>
          <a:xfrm>
            <a:off x="221163" y="5709520"/>
            <a:ext cx="466942" cy="438297"/>
          </a:xfrm>
          <a:prstGeom prst="ellipse">
            <a:avLst/>
          </a:prstGeom>
          <a:noFill/>
          <a:ln w="9525">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CD6DF9F9-1758-634D-5807-86D1611D9AC4}"/>
              </a:ext>
            </a:extLst>
          </p:cNvPr>
          <p:cNvSpPr/>
          <p:nvPr/>
        </p:nvSpPr>
        <p:spPr>
          <a:xfrm>
            <a:off x="235546" y="6191913"/>
            <a:ext cx="466942" cy="438297"/>
          </a:xfrm>
          <a:prstGeom prst="ellipse">
            <a:avLst/>
          </a:prstGeom>
          <a:noFill/>
          <a:ln w="9525">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B7D8BE75-7FB3-779E-7BAC-B0468237ACEC}"/>
              </a:ext>
            </a:extLst>
          </p:cNvPr>
          <p:cNvSpPr/>
          <p:nvPr/>
        </p:nvSpPr>
        <p:spPr>
          <a:xfrm>
            <a:off x="248114" y="2741371"/>
            <a:ext cx="466942" cy="438297"/>
          </a:xfrm>
          <a:prstGeom prst="ellipse">
            <a:avLst/>
          </a:prstGeom>
          <a:noFill/>
          <a:ln w="9525">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Oval 144">
            <a:extLst>
              <a:ext uri="{FF2B5EF4-FFF2-40B4-BE49-F238E27FC236}">
                <a16:creationId xmlns:a16="http://schemas.microsoft.com/office/drawing/2014/main" id="{C8AE15ED-7CF4-AFCC-4D94-CA807AC7DB4D}"/>
              </a:ext>
            </a:extLst>
          </p:cNvPr>
          <p:cNvSpPr/>
          <p:nvPr/>
        </p:nvSpPr>
        <p:spPr>
          <a:xfrm>
            <a:off x="253191" y="3218295"/>
            <a:ext cx="466942" cy="438297"/>
          </a:xfrm>
          <a:prstGeom prst="ellipse">
            <a:avLst/>
          </a:prstGeom>
          <a:noFill/>
          <a:ln w="9525">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7" name="Picture 146">
            <a:extLst>
              <a:ext uri="{FF2B5EF4-FFF2-40B4-BE49-F238E27FC236}">
                <a16:creationId xmlns:a16="http://schemas.microsoft.com/office/drawing/2014/main" id="{E5EAA1D4-6850-DFDD-5CF1-FA5CE198AD54}"/>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8824" b="90000" l="9615" r="89904">
                        <a14:foregroundMark x1="64904" y1="47059" x2="45673" y2="50588"/>
                        <a14:foregroundMark x1="40865" y1="45882" x2="40865" y2="45882"/>
                        <a14:foregroundMark x1="40385" y1="90000" x2="66827" y2="85294"/>
                        <a14:foregroundMark x1="72115" y1="88235" x2="64904" y2="88235"/>
                        <a14:foregroundMark x1="87981" y1="44706" x2="89423" y2="55882"/>
                        <a14:foregroundMark x1="50962" y1="8824" x2="53365" y2="23529"/>
                      </a14:backgroundRemoval>
                    </a14:imgEffect>
                  </a14:imgLayer>
                </a14:imgProps>
              </a:ext>
            </a:extLst>
          </a:blip>
          <a:stretch>
            <a:fillRect/>
          </a:stretch>
        </p:blipFill>
        <p:spPr>
          <a:xfrm>
            <a:off x="288553" y="3267340"/>
            <a:ext cx="395525" cy="323266"/>
          </a:xfrm>
          <a:prstGeom prst="rect">
            <a:avLst/>
          </a:prstGeom>
        </p:spPr>
      </p:pic>
      <p:pic>
        <p:nvPicPr>
          <p:cNvPr id="6" name="Picture 5">
            <a:extLst>
              <a:ext uri="{FF2B5EF4-FFF2-40B4-BE49-F238E27FC236}">
                <a16:creationId xmlns:a16="http://schemas.microsoft.com/office/drawing/2014/main" id="{DDC9F036-E150-922B-3BE5-3C2A63F94CB6}"/>
              </a:ext>
            </a:extLst>
          </p:cNvPr>
          <p:cNvPicPr>
            <a:picLocks noChangeAspect="1"/>
          </p:cNvPicPr>
          <p:nvPr/>
        </p:nvPicPr>
        <p:blipFill>
          <a:blip r:embed="rId22"/>
          <a:srcRect l="54006"/>
          <a:stretch>
            <a:fillRect/>
          </a:stretch>
        </p:blipFill>
        <p:spPr>
          <a:xfrm>
            <a:off x="3272258" y="2564048"/>
            <a:ext cx="1592909" cy="1137269"/>
          </a:xfrm>
          <a:prstGeom prst="rect">
            <a:avLst/>
          </a:prstGeom>
        </p:spPr>
      </p:pic>
      <p:pic>
        <p:nvPicPr>
          <p:cNvPr id="149" name="Graphic 148" descr="Money with solid fill">
            <a:extLst>
              <a:ext uri="{FF2B5EF4-FFF2-40B4-BE49-F238E27FC236}">
                <a16:creationId xmlns:a16="http://schemas.microsoft.com/office/drawing/2014/main" id="{746787A9-8067-EB5C-9517-E3950395557F}"/>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299226" y="2763282"/>
            <a:ext cx="367605" cy="367605"/>
          </a:xfrm>
          <a:prstGeom prst="rect">
            <a:avLst/>
          </a:prstGeom>
        </p:spPr>
      </p:pic>
      <p:pic>
        <p:nvPicPr>
          <p:cNvPr id="10" name="Picture 9">
            <a:extLst>
              <a:ext uri="{FF2B5EF4-FFF2-40B4-BE49-F238E27FC236}">
                <a16:creationId xmlns:a16="http://schemas.microsoft.com/office/drawing/2014/main" id="{EA323983-0E54-6D28-64A4-A15226ACAA3D}"/>
              </a:ext>
            </a:extLst>
          </p:cNvPr>
          <p:cNvPicPr>
            <a:picLocks noChangeAspect="1"/>
          </p:cNvPicPr>
          <p:nvPr/>
        </p:nvPicPr>
        <p:blipFill>
          <a:blip r:embed="rId22"/>
          <a:srcRect l="2401" t="24384" r="74097" b="10962"/>
          <a:stretch>
            <a:fillRect/>
          </a:stretch>
        </p:blipFill>
        <p:spPr>
          <a:xfrm>
            <a:off x="2088542" y="2836412"/>
            <a:ext cx="851652" cy="769324"/>
          </a:xfrm>
          <a:prstGeom prst="rect">
            <a:avLst/>
          </a:prstGeom>
        </p:spPr>
      </p:pic>
      <p:cxnSp>
        <p:nvCxnSpPr>
          <p:cNvPr id="25" name="Straight Arrow Connector 24">
            <a:extLst>
              <a:ext uri="{FF2B5EF4-FFF2-40B4-BE49-F238E27FC236}">
                <a16:creationId xmlns:a16="http://schemas.microsoft.com/office/drawing/2014/main" id="{A1E72427-9D21-2E28-27CF-6B10CF02AAFB}"/>
              </a:ext>
            </a:extLst>
          </p:cNvPr>
          <p:cNvCxnSpPr>
            <a:cxnSpLocks/>
          </p:cNvCxnSpPr>
          <p:nvPr/>
        </p:nvCxnSpPr>
        <p:spPr>
          <a:xfrm flipV="1">
            <a:off x="2822442" y="2911487"/>
            <a:ext cx="380862" cy="228505"/>
          </a:xfrm>
          <a:prstGeom prst="straightConnector1">
            <a:avLst/>
          </a:prstGeom>
          <a:ln w="28575">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642239ED-43D0-AB5D-9B0A-B0BD27D9E866}"/>
              </a:ext>
            </a:extLst>
          </p:cNvPr>
          <p:cNvCxnSpPr>
            <a:cxnSpLocks/>
          </p:cNvCxnSpPr>
          <p:nvPr/>
        </p:nvCxnSpPr>
        <p:spPr>
          <a:xfrm>
            <a:off x="2836327" y="3133133"/>
            <a:ext cx="371873" cy="236446"/>
          </a:xfrm>
          <a:prstGeom prst="straightConnector1">
            <a:avLst/>
          </a:prstGeom>
          <a:ln w="28575">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93BFB581-B0BC-39FC-EAF4-DF05320E6DA8}"/>
              </a:ext>
            </a:extLst>
          </p:cNvPr>
          <p:cNvCxnSpPr>
            <a:cxnSpLocks/>
          </p:cNvCxnSpPr>
          <p:nvPr/>
        </p:nvCxnSpPr>
        <p:spPr>
          <a:xfrm>
            <a:off x="4921893" y="5330710"/>
            <a:ext cx="0" cy="1229946"/>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pic>
        <p:nvPicPr>
          <p:cNvPr id="66" name="Picture 65">
            <a:extLst>
              <a:ext uri="{FF2B5EF4-FFF2-40B4-BE49-F238E27FC236}">
                <a16:creationId xmlns:a16="http://schemas.microsoft.com/office/drawing/2014/main" id="{DCDB7069-5E48-3053-9778-4D8B7E090EA2}"/>
              </a:ext>
            </a:extLst>
          </p:cNvPr>
          <p:cNvPicPr>
            <a:picLocks noChangeAspect="1"/>
          </p:cNvPicPr>
          <p:nvPr/>
        </p:nvPicPr>
        <p:blipFill>
          <a:blip r:embed="rId24"/>
          <a:srcRect t="4863"/>
          <a:stretch>
            <a:fillRect/>
          </a:stretch>
        </p:blipFill>
        <p:spPr>
          <a:xfrm>
            <a:off x="3203304" y="6933751"/>
            <a:ext cx="2377837" cy="1267085"/>
          </a:xfrm>
          <a:prstGeom prst="rect">
            <a:avLst/>
          </a:prstGeom>
        </p:spPr>
      </p:pic>
      <p:cxnSp>
        <p:nvCxnSpPr>
          <p:cNvPr id="102" name="Straight Connector 101">
            <a:extLst>
              <a:ext uri="{FF2B5EF4-FFF2-40B4-BE49-F238E27FC236}">
                <a16:creationId xmlns:a16="http://schemas.microsoft.com/office/drawing/2014/main" id="{97A17098-16D2-5CF8-7D55-FD8E097D4D81}"/>
              </a:ext>
            </a:extLst>
          </p:cNvPr>
          <p:cNvCxnSpPr>
            <a:cxnSpLocks/>
          </p:cNvCxnSpPr>
          <p:nvPr/>
        </p:nvCxnSpPr>
        <p:spPr>
          <a:xfrm>
            <a:off x="3184355" y="8459811"/>
            <a:ext cx="0" cy="1229946"/>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6F12610F-28AC-6FA6-0557-4A8F16ED4683}"/>
              </a:ext>
            </a:extLst>
          </p:cNvPr>
          <p:cNvSpPr txBox="1"/>
          <p:nvPr/>
        </p:nvSpPr>
        <p:spPr>
          <a:xfrm>
            <a:off x="3233036" y="8310325"/>
            <a:ext cx="1732802" cy="230832"/>
          </a:xfrm>
          <a:prstGeom prst="rect">
            <a:avLst/>
          </a:prstGeom>
          <a:noFill/>
        </p:spPr>
        <p:txBody>
          <a:bodyPr wrap="square" rtlCol="0">
            <a:spAutoFit/>
          </a:bodyPr>
          <a:lstStyle/>
          <a:p>
            <a:pPr algn="ctr"/>
            <a:r>
              <a:rPr lang="en-US" sz="900" b="1" dirty="0">
                <a:solidFill>
                  <a:schemeClr val="tx2">
                    <a:lumMod val="75000"/>
                    <a:lumOff val="25000"/>
                  </a:schemeClr>
                </a:solidFill>
              </a:rPr>
              <a:t>AI Usability Scoring</a:t>
            </a:r>
          </a:p>
        </p:txBody>
      </p:sp>
      <p:pic>
        <p:nvPicPr>
          <p:cNvPr id="109" name="Picture 108">
            <a:extLst>
              <a:ext uri="{FF2B5EF4-FFF2-40B4-BE49-F238E27FC236}">
                <a16:creationId xmlns:a16="http://schemas.microsoft.com/office/drawing/2014/main" id="{0083CE3F-82F2-41E5-D423-7C385035FC27}"/>
              </a:ext>
            </a:extLst>
          </p:cNvPr>
          <p:cNvPicPr>
            <a:picLocks noChangeAspect="1"/>
          </p:cNvPicPr>
          <p:nvPr/>
        </p:nvPicPr>
        <p:blipFill>
          <a:blip r:embed="rId25"/>
          <a:srcRect r="10112"/>
          <a:stretch>
            <a:fillRect/>
          </a:stretch>
        </p:blipFill>
        <p:spPr>
          <a:xfrm>
            <a:off x="2224832" y="3781216"/>
            <a:ext cx="2534953" cy="1274021"/>
          </a:xfrm>
          <a:prstGeom prst="rect">
            <a:avLst/>
          </a:prstGeom>
        </p:spPr>
      </p:pic>
      <p:pic>
        <p:nvPicPr>
          <p:cNvPr id="118" name="Picture 117">
            <a:extLst>
              <a:ext uri="{FF2B5EF4-FFF2-40B4-BE49-F238E27FC236}">
                <a16:creationId xmlns:a16="http://schemas.microsoft.com/office/drawing/2014/main" id="{CAAC686D-51EC-8239-DED1-CCDE53E14239}"/>
              </a:ext>
            </a:extLst>
          </p:cNvPr>
          <p:cNvPicPr>
            <a:picLocks noChangeAspect="1"/>
          </p:cNvPicPr>
          <p:nvPr/>
        </p:nvPicPr>
        <p:blipFill>
          <a:blip r:embed="rId25"/>
          <a:srcRect l="89207" b="80272"/>
          <a:stretch>
            <a:fillRect/>
          </a:stretch>
        </p:blipFill>
        <p:spPr>
          <a:xfrm>
            <a:off x="4160607" y="3797634"/>
            <a:ext cx="614425" cy="541236"/>
          </a:xfrm>
          <a:prstGeom prst="rect">
            <a:avLst/>
          </a:prstGeom>
        </p:spPr>
      </p:pic>
      <p:sp>
        <p:nvSpPr>
          <p:cNvPr id="126" name="TextBox 125">
            <a:extLst>
              <a:ext uri="{FF2B5EF4-FFF2-40B4-BE49-F238E27FC236}">
                <a16:creationId xmlns:a16="http://schemas.microsoft.com/office/drawing/2014/main" id="{7204B6A0-921D-47AD-0DD7-62F3F9042E5D}"/>
              </a:ext>
            </a:extLst>
          </p:cNvPr>
          <p:cNvSpPr txBox="1"/>
          <p:nvPr/>
        </p:nvSpPr>
        <p:spPr>
          <a:xfrm>
            <a:off x="138815" y="5820562"/>
            <a:ext cx="757982" cy="230832"/>
          </a:xfrm>
          <a:prstGeom prst="rect">
            <a:avLst/>
          </a:prstGeom>
          <a:noFill/>
        </p:spPr>
        <p:txBody>
          <a:bodyPr wrap="square" rtlCol="0">
            <a:spAutoFit/>
          </a:bodyPr>
          <a:lstStyle/>
          <a:p>
            <a:r>
              <a:rPr lang="en-US" sz="900" dirty="0">
                <a:solidFill>
                  <a:schemeClr val="tx2">
                    <a:lumMod val="75000"/>
                    <a:lumOff val="25000"/>
                  </a:schemeClr>
                </a:solidFill>
                <a:latin typeface="Arial Black" panose="020B0A04020102020204" pitchFamily="34" charset="0"/>
              </a:rPr>
              <a:t>0.066</a:t>
            </a:r>
            <a:r>
              <a:rPr lang="en-US" sz="900" dirty="0">
                <a:solidFill>
                  <a:schemeClr val="tx2">
                    <a:lumMod val="90000"/>
                    <a:lumOff val="10000"/>
                  </a:schemeClr>
                </a:solidFill>
                <a:latin typeface="Arial Black" panose="020B0A04020102020204" pitchFamily="34" charset="0"/>
              </a:rPr>
              <a:t>%</a:t>
            </a:r>
          </a:p>
        </p:txBody>
      </p:sp>
      <p:pic>
        <p:nvPicPr>
          <p:cNvPr id="132" name="Picture 131">
            <a:extLst>
              <a:ext uri="{FF2B5EF4-FFF2-40B4-BE49-F238E27FC236}">
                <a16:creationId xmlns:a16="http://schemas.microsoft.com/office/drawing/2014/main" id="{640A65C6-1126-FA53-9A0A-B9FDC264A224}"/>
              </a:ext>
            </a:extLst>
          </p:cNvPr>
          <p:cNvPicPr>
            <a:picLocks noChangeAspect="1"/>
          </p:cNvPicPr>
          <p:nvPr/>
        </p:nvPicPr>
        <p:blipFill>
          <a:blip r:embed="rId26"/>
          <a:stretch>
            <a:fillRect/>
          </a:stretch>
        </p:blipFill>
        <p:spPr>
          <a:xfrm>
            <a:off x="3224074" y="8493767"/>
            <a:ext cx="1788468" cy="1227492"/>
          </a:xfrm>
          <a:prstGeom prst="rect">
            <a:avLst/>
          </a:prstGeom>
        </p:spPr>
      </p:pic>
      <p:pic>
        <p:nvPicPr>
          <p:cNvPr id="13" name="Picture 12">
            <a:extLst>
              <a:ext uri="{FF2B5EF4-FFF2-40B4-BE49-F238E27FC236}">
                <a16:creationId xmlns:a16="http://schemas.microsoft.com/office/drawing/2014/main" id="{5D8D9CF4-CD72-1AD1-1E3F-83E2CED33663}"/>
              </a:ext>
            </a:extLst>
          </p:cNvPr>
          <p:cNvPicPr>
            <a:picLocks noChangeAspect="1"/>
          </p:cNvPicPr>
          <p:nvPr/>
        </p:nvPicPr>
        <p:blipFill>
          <a:blip r:embed="rId27"/>
          <a:srcRect l="21634" t="23385" r="41323" b="19928"/>
          <a:stretch>
            <a:fillRect/>
          </a:stretch>
        </p:blipFill>
        <p:spPr>
          <a:xfrm>
            <a:off x="363668" y="6240437"/>
            <a:ext cx="235834" cy="332169"/>
          </a:xfrm>
          <a:prstGeom prst="rect">
            <a:avLst/>
          </a:prstGeom>
        </p:spPr>
      </p:pic>
      <p:sp>
        <p:nvSpPr>
          <p:cNvPr id="14" name="TextBox 13">
            <a:extLst>
              <a:ext uri="{FF2B5EF4-FFF2-40B4-BE49-F238E27FC236}">
                <a16:creationId xmlns:a16="http://schemas.microsoft.com/office/drawing/2014/main" id="{8299F41F-B4A5-8421-3D4C-F257D8DEA086}"/>
              </a:ext>
            </a:extLst>
          </p:cNvPr>
          <p:cNvSpPr txBox="1"/>
          <p:nvPr/>
        </p:nvSpPr>
        <p:spPr>
          <a:xfrm>
            <a:off x="5075844" y="5215779"/>
            <a:ext cx="1606293" cy="369332"/>
          </a:xfrm>
          <a:prstGeom prst="rect">
            <a:avLst/>
          </a:prstGeom>
          <a:noFill/>
        </p:spPr>
        <p:txBody>
          <a:bodyPr wrap="square" rtlCol="0">
            <a:spAutoFit/>
          </a:bodyPr>
          <a:lstStyle/>
          <a:p>
            <a:pPr algn="ctr"/>
            <a:r>
              <a:rPr lang="en-US" sz="900" b="1" dirty="0">
                <a:solidFill>
                  <a:schemeClr val="tx2">
                    <a:lumMod val="75000"/>
                    <a:lumOff val="25000"/>
                  </a:schemeClr>
                </a:solidFill>
              </a:rPr>
              <a:t>Top Specialties with Healthcare Exclusions</a:t>
            </a:r>
          </a:p>
        </p:txBody>
      </p:sp>
      <p:pic>
        <p:nvPicPr>
          <p:cNvPr id="21" name="Picture 20">
            <a:extLst>
              <a:ext uri="{FF2B5EF4-FFF2-40B4-BE49-F238E27FC236}">
                <a16:creationId xmlns:a16="http://schemas.microsoft.com/office/drawing/2014/main" id="{70C5B674-63F2-EC3F-3647-336BF7E9539C}"/>
              </a:ext>
            </a:extLst>
          </p:cNvPr>
          <p:cNvPicPr>
            <a:picLocks noChangeAspect="1"/>
          </p:cNvPicPr>
          <p:nvPr/>
        </p:nvPicPr>
        <p:blipFill>
          <a:blip r:embed="rId28"/>
          <a:stretch>
            <a:fillRect/>
          </a:stretch>
        </p:blipFill>
        <p:spPr>
          <a:xfrm>
            <a:off x="173073" y="7157300"/>
            <a:ext cx="2005806" cy="1029867"/>
          </a:xfrm>
          <a:prstGeom prst="rect">
            <a:avLst/>
          </a:prstGeom>
        </p:spPr>
      </p:pic>
      <p:pic>
        <p:nvPicPr>
          <p:cNvPr id="41" name="Picture 40">
            <a:extLst>
              <a:ext uri="{FF2B5EF4-FFF2-40B4-BE49-F238E27FC236}">
                <a16:creationId xmlns:a16="http://schemas.microsoft.com/office/drawing/2014/main" id="{6A1BA1E0-F77A-C830-57A5-12E2B9B94193}"/>
              </a:ext>
            </a:extLst>
          </p:cNvPr>
          <p:cNvPicPr>
            <a:picLocks noChangeAspect="1"/>
          </p:cNvPicPr>
          <p:nvPr/>
        </p:nvPicPr>
        <p:blipFill>
          <a:blip r:embed="rId29"/>
          <a:stretch>
            <a:fillRect/>
          </a:stretch>
        </p:blipFill>
        <p:spPr>
          <a:xfrm>
            <a:off x="4952012" y="2485556"/>
            <a:ext cx="1703626" cy="816584"/>
          </a:xfrm>
          <a:prstGeom prst="rect">
            <a:avLst/>
          </a:prstGeom>
        </p:spPr>
      </p:pic>
      <p:pic>
        <p:nvPicPr>
          <p:cNvPr id="48" name="Picture 47">
            <a:extLst>
              <a:ext uri="{FF2B5EF4-FFF2-40B4-BE49-F238E27FC236}">
                <a16:creationId xmlns:a16="http://schemas.microsoft.com/office/drawing/2014/main" id="{D27F76B8-116C-5B4F-125C-E08FCE529DED}"/>
              </a:ext>
            </a:extLst>
          </p:cNvPr>
          <p:cNvPicPr>
            <a:picLocks noChangeAspect="1"/>
          </p:cNvPicPr>
          <p:nvPr/>
        </p:nvPicPr>
        <p:blipFill>
          <a:blip r:embed="rId30"/>
          <a:stretch>
            <a:fillRect/>
          </a:stretch>
        </p:blipFill>
        <p:spPr>
          <a:xfrm>
            <a:off x="4965365" y="5556205"/>
            <a:ext cx="1657090" cy="1106332"/>
          </a:xfrm>
          <a:prstGeom prst="rect">
            <a:avLst/>
          </a:prstGeom>
        </p:spPr>
      </p:pic>
      <p:pic>
        <p:nvPicPr>
          <p:cNvPr id="59" name="Picture 58">
            <a:extLst>
              <a:ext uri="{FF2B5EF4-FFF2-40B4-BE49-F238E27FC236}">
                <a16:creationId xmlns:a16="http://schemas.microsoft.com/office/drawing/2014/main" id="{2F7C9832-FA0B-702A-6D09-66A8EE9CCD97}"/>
              </a:ext>
            </a:extLst>
          </p:cNvPr>
          <p:cNvPicPr>
            <a:picLocks noChangeAspect="1"/>
          </p:cNvPicPr>
          <p:nvPr/>
        </p:nvPicPr>
        <p:blipFill>
          <a:blip r:embed="rId31"/>
          <a:srcRect l="17299" r="38879"/>
          <a:stretch>
            <a:fillRect/>
          </a:stretch>
        </p:blipFill>
        <p:spPr>
          <a:xfrm>
            <a:off x="4988957" y="4016217"/>
            <a:ext cx="1022284" cy="1066965"/>
          </a:xfrm>
          <a:prstGeom prst="rect">
            <a:avLst/>
          </a:prstGeom>
        </p:spPr>
      </p:pic>
      <p:pic>
        <p:nvPicPr>
          <p:cNvPr id="60" name="Picture 59">
            <a:extLst>
              <a:ext uri="{FF2B5EF4-FFF2-40B4-BE49-F238E27FC236}">
                <a16:creationId xmlns:a16="http://schemas.microsoft.com/office/drawing/2014/main" id="{5E243281-BF21-041E-9390-CBF4A08E4CCE}"/>
              </a:ext>
            </a:extLst>
          </p:cNvPr>
          <p:cNvPicPr>
            <a:picLocks noChangeAspect="1"/>
          </p:cNvPicPr>
          <p:nvPr/>
        </p:nvPicPr>
        <p:blipFill>
          <a:blip r:embed="rId31"/>
          <a:srcRect l="78145" b="73870"/>
          <a:stretch>
            <a:fillRect/>
          </a:stretch>
        </p:blipFill>
        <p:spPr>
          <a:xfrm>
            <a:off x="5933984" y="3958947"/>
            <a:ext cx="708682" cy="387533"/>
          </a:xfrm>
          <a:prstGeom prst="rect">
            <a:avLst/>
          </a:prstGeom>
        </p:spPr>
      </p:pic>
      <p:cxnSp>
        <p:nvCxnSpPr>
          <p:cNvPr id="62" name="Straight Connector 61">
            <a:extLst>
              <a:ext uri="{FF2B5EF4-FFF2-40B4-BE49-F238E27FC236}">
                <a16:creationId xmlns:a16="http://schemas.microsoft.com/office/drawing/2014/main" id="{0BC94071-6DFA-2BE3-7280-7A78697A76FE}"/>
              </a:ext>
            </a:extLst>
          </p:cNvPr>
          <p:cNvCxnSpPr>
            <a:cxnSpLocks/>
          </p:cNvCxnSpPr>
          <p:nvPr/>
        </p:nvCxnSpPr>
        <p:spPr>
          <a:xfrm>
            <a:off x="4907670" y="3825291"/>
            <a:ext cx="0" cy="1229946"/>
          </a:xfrm>
          <a:prstGeom prst="line">
            <a:avLst/>
          </a:prstGeom>
          <a:ln w="28575">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857D71E6-8734-54FF-C236-73E177178438}"/>
              </a:ext>
            </a:extLst>
          </p:cNvPr>
          <p:cNvSpPr txBox="1"/>
          <p:nvPr/>
        </p:nvSpPr>
        <p:spPr>
          <a:xfrm>
            <a:off x="5941675" y="4339530"/>
            <a:ext cx="908748" cy="830997"/>
          </a:xfrm>
          <a:prstGeom prst="rect">
            <a:avLst/>
          </a:prstGeom>
          <a:noFill/>
        </p:spPr>
        <p:txBody>
          <a:bodyPr wrap="square" rtlCol="0">
            <a:spAutoFit/>
          </a:bodyPr>
          <a:lstStyle/>
          <a:p>
            <a:r>
              <a:rPr lang="en-US" sz="800" dirty="0">
                <a:solidFill>
                  <a:schemeClr val="tx2"/>
                </a:solidFill>
                <a:latin typeface="Arial" panose="020B0604020202020204" pitchFamily="34" charset="0"/>
                <a:cs typeface="Arial" panose="020B0604020202020204" pitchFamily="34" charset="0"/>
              </a:rPr>
              <a:t>Drugs and biologics are the most common amongst spikers.</a:t>
            </a:r>
          </a:p>
        </p:txBody>
      </p:sp>
    </p:spTree>
    <p:extLst>
      <p:ext uri="{BB962C8B-B14F-4D97-AF65-F5344CB8AC3E}">
        <p14:creationId xmlns:p14="http://schemas.microsoft.com/office/powerpoint/2010/main" val="22424459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6949090C73B444AB239746BF8BCC645" ma:contentTypeVersion="13" ma:contentTypeDescription="Create a new document." ma:contentTypeScope="" ma:versionID="702de30e9a7459181c8570fc45067738">
  <xsd:schema xmlns:xsd="http://www.w3.org/2001/XMLSchema" xmlns:xs="http://www.w3.org/2001/XMLSchema" xmlns:p="http://schemas.microsoft.com/office/2006/metadata/properties" xmlns:ns2="2112e3b6-ffbe-4e3c-bbd7-445dbc30305a" xmlns:ns3="7c56d1bc-41ac-4de6-9e35-a477c329059c" targetNamespace="http://schemas.microsoft.com/office/2006/metadata/properties" ma:root="true" ma:fieldsID="2f709ef23b708b2d5ab7da793e6bfe67" ns2:_="" ns3:_="">
    <xsd:import namespace="2112e3b6-ffbe-4e3c-bbd7-445dbc30305a"/>
    <xsd:import namespace="7c56d1bc-41ac-4de6-9e35-a477c329059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_x0045_RD01"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12e3b6-ffbe-4e3c-bbd7-445dbc3030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_x0045_RD01" ma:index="16" nillable="true" ma:displayName="ERD 01" ma:description="https://lucid.app/lucidchart/da2a6694-3f7a-4134-ae67-4a04a9fe31b6/edit?beaconFlowId=F06FD960F3E0842E&amp;page=0_0&amp;invitationId=inv_3d273d02-89f3-4c80-a935-bf49e75fe8b1#" ma:format="Dropdown" ma:internalName="_x0045_RD01">
      <xsd:simpleType>
        <xsd:restriction base="dms:Text">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e20e570-3a27-4eff-9ea0-d3488a33fbf1"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c56d1bc-41ac-4de6-9e35-a477c329059c"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277181a-e768-45e3-ad48-e3ddea6c052c}" ma:internalName="TaxCatchAll" ma:showField="CatchAllData" ma:web="7c56d1bc-41ac-4de6-9e35-a477c32905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x0045_RD01 xmlns="2112e3b6-ffbe-4e3c-bbd7-445dbc30305a" xsi:nil="true"/>
    <lcf76f155ced4ddcb4097134ff3c332f xmlns="2112e3b6-ffbe-4e3c-bbd7-445dbc30305a">
      <Terms xmlns="http://schemas.microsoft.com/office/infopath/2007/PartnerControls"/>
    </lcf76f155ced4ddcb4097134ff3c332f>
    <TaxCatchAll xmlns="7c56d1bc-41ac-4de6-9e35-a477c329059c" xsi:nil="true"/>
  </documentManagement>
</p:properties>
</file>

<file path=customXml/itemProps1.xml><?xml version="1.0" encoding="utf-8"?>
<ds:datastoreItem xmlns:ds="http://schemas.openxmlformats.org/officeDocument/2006/customXml" ds:itemID="{7B67FC9A-47E9-4B21-8C43-7611F97ACDC1}">
  <ds:schemaRefs>
    <ds:schemaRef ds:uri="http://schemas.microsoft.com/sharepoint/v3/contenttype/forms"/>
  </ds:schemaRefs>
</ds:datastoreItem>
</file>

<file path=customXml/itemProps2.xml><?xml version="1.0" encoding="utf-8"?>
<ds:datastoreItem xmlns:ds="http://schemas.openxmlformats.org/officeDocument/2006/customXml" ds:itemID="{780305A8-1D26-45E5-BA3E-EE739871E1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12e3b6-ffbe-4e3c-bbd7-445dbc30305a"/>
    <ds:schemaRef ds:uri="7c56d1bc-41ac-4de6-9e35-a477c32905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E313153-BB4A-4A43-895C-9AB16C764744}">
  <ds:schemaRefs>
    <ds:schemaRef ds:uri="http://schemas.microsoft.com/office/2006/metadata/properties"/>
    <ds:schemaRef ds:uri="http://schemas.microsoft.com/office/infopath/2007/PartnerControls"/>
    <ds:schemaRef ds:uri="2112e3b6-ffbe-4e3c-bbd7-445dbc30305a"/>
    <ds:schemaRef ds:uri="7c56d1bc-41ac-4de6-9e35-a477c329059c"/>
  </ds:schemaRefs>
</ds:datastoreItem>
</file>

<file path=docProps/app.xml><?xml version="1.0" encoding="utf-8"?>
<Properties xmlns="http://schemas.openxmlformats.org/officeDocument/2006/extended-properties" xmlns:vt="http://schemas.openxmlformats.org/officeDocument/2006/docPropsVTypes">
  <Template>Office Theme</Template>
  <TotalTime>221</TotalTime>
  <Words>392</Words>
  <Application>Microsoft Office PowerPoint</Application>
  <PresentationFormat>A4 Paper (210x297 mm)</PresentationFormat>
  <Paragraphs>38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Arial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Woo, Sabrina</dc:creator>
  <cp:lastModifiedBy>Kamath, Udyavara Narsim (MU-Student)</cp:lastModifiedBy>
  <cp:revision>2</cp:revision>
  <dcterms:created xsi:type="dcterms:W3CDTF">2026-05-13T01:47:23Z</dcterms:created>
  <dcterms:modified xsi:type="dcterms:W3CDTF">2026-05-22T05:20:12Z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0x01010056949090C73B444AB239746BF8BCC645</vt:lpwstr>
  </property>
  <property fmtid="{D5CDD505-2E9C-101B-9397-08002B2CF9AE}" pid="3" name="MediaServiceImageTags">
    <vt:lpwstr/>
  </property>
</Properties>
</file>