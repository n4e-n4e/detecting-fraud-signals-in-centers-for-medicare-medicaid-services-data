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FE3B-A96D-AE3B-5D46-64F4EB085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6025B-10ED-14F3-F3B0-487FB8A97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1A7EA-F144-119F-38CA-26B07B89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605-439F-AC25-F81E-3A60240B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74957-92AA-AF82-11AF-42176147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1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E9B9-683E-43DE-339B-33FE7E82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529E5-B979-B09C-6A7F-002C90AFD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9F6CE-82C0-9656-E7F2-9E0FB112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1A58A-4F57-AD6D-95B5-A4237CE3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E28EE-3C34-66E9-39AF-A5D53C0A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1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A169-F188-F703-3BB9-FC3ED034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55C98-FFBD-E071-F44F-C8C424B97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B7BF8-753A-EBAA-9554-8B026A937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6666E-6FA6-20E4-01DF-FDD966A84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ABD26-73B2-C44C-C719-9E6F001F3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3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E0C73-AF97-70AD-1C0D-53DC3EF1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15BC3-801C-5BF8-290B-2C1752919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0743-19C5-756E-A529-167D615DC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316BD-763C-CA0E-E4CA-E0A1A517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DEFAA-3C0E-842A-0747-CF968459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A355A-37E5-6E5F-9474-8958CF49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6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84C3-6EFB-50F0-32FC-75F37C1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1728A-8D9C-02C3-71A8-0370F9305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D34B3-DBE8-4110-E49D-2FC5CC337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32384-8744-6D51-4E91-02887969B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7D297-6BBB-17B5-E497-776553629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531D6-AE46-4A91-2B4D-27441721E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3E4283-40E2-CD1C-8B53-67A81065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DCBB2-4E14-F1BB-37DE-71123BC5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3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074B-7A7B-8487-88FD-2EF61049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04390-0E38-75C8-ADED-72176BE3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EB06D-DA69-AED1-E804-4A19C4E2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12E79-FDF0-4CAF-C502-A9D53A00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DDE8A-2487-7458-F5A2-E0835294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C24F8-A642-802A-C587-AF776F01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1EE9A-F170-2615-A0F8-6F3724F0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1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6F3E-30E3-381F-B5C5-57C557F8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152A-088D-4D9B-DA32-8A75B8409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C5738-4719-47B4-19CD-2F7E2BB2B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0CB07-507C-946F-26F7-BDCBA25E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A5BB9-8604-6B03-C18E-F82015D8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6C211-7227-2304-C8CB-63F8912D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9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FBD9-56C3-8DD4-3B50-085ED4B5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F32D6-8F27-5082-6C42-B55B4C46F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D8E13-1076-8453-8F9E-DC0B2FEFD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EE263-1728-F094-7744-1DA661C9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517C1-D70C-2326-9BB1-F7E091D8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83316-B8B7-B575-3632-1F9B44B9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1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B6CF-EBC8-55AE-142F-A788905ED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D9AC0-6582-4309-017E-3ADBA937A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B6AF2-E69C-F1F3-AF24-BB1A9A0B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E7D7F-D403-AC97-BF2B-A85C2B69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A53C-6651-5299-92FA-10EFFEAE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1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670F8-901B-2764-B4A8-FE96BA09A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9DEFA-3E1E-61E3-6D5D-D50C18C22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6669-6E70-C46F-5FFE-B53C8571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34F0F-5054-98F4-DD67-35C49A2C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B033-B4DD-A424-9821-0893BD3F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7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F43A2-CBFC-EE6D-495A-4A5B9534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01180-3D19-399F-83BB-877D274C5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33E8F-E6AF-5568-6CC2-66DE03BA0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7B0EB-C965-4381-9892-3448728EDEE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60E25-FA7A-676B-660D-51E7A097C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64592-849B-76A2-49D1-E698D55FE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74960-7D53-4941-8404-B4FA98131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2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E5D085-607E-84BA-93E7-792345F6C7B5}"/>
              </a:ext>
            </a:extLst>
          </p:cNvPr>
          <p:cNvSpPr/>
          <p:nvPr/>
        </p:nvSpPr>
        <p:spPr>
          <a:xfrm>
            <a:off x="1603236" y="341746"/>
            <a:ext cx="5518001" cy="2392218"/>
          </a:xfrm>
          <a:prstGeom prst="rect">
            <a:avLst/>
          </a:prstGeom>
          <a:solidFill>
            <a:srgbClr val="FFD1D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chemeClr val="tx1"/>
                </a:solidFill>
                <a:latin typeface="Montserrat" pitchFamily="2" charset="0"/>
              </a:rPr>
              <a:t>Render Environment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EF971A-1AA7-1A37-9491-674CDD367B2E}"/>
              </a:ext>
            </a:extLst>
          </p:cNvPr>
          <p:cNvSpPr/>
          <p:nvPr/>
        </p:nvSpPr>
        <p:spPr>
          <a:xfrm>
            <a:off x="1944207" y="1109603"/>
            <a:ext cx="1682961" cy="8669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Web Service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Gemini - API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7FAAA9-963E-5E1F-054A-A24B2465E9C8}"/>
              </a:ext>
            </a:extLst>
          </p:cNvPr>
          <p:cNvSpPr/>
          <p:nvPr/>
        </p:nvSpPr>
        <p:spPr>
          <a:xfrm>
            <a:off x="4996853" y="1120078"/>
            <a:ext cx="1682961" cy="8669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MCP Server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6BBD31-3CB5-3DA7-D4A0-C05C6F674202}"/>
              </a:ext>
            </a:extLst>
          </p:cNvPr>
          <p:cNvSpPr/>
          <p:nvPr/>
        </p:nvSpPr>
        <p:spPr>
          <a:xfrm>
            <a:off x="9415530" y="158701"/>
            <a:ext cx="2528231" cy="1318166"/>
          </a:xfrm>
          <a:prstGeom prst="roundRect">
            <a:avLst/>
          </a:prstGeom>
          <a:solidFill>
            <a:srgbClr val="E97132">
              <a:alpha val="50000"/>
            </a:srgbClr>
          </a:solidFill>
          <a:ln>
            <a:noFill/>
          </a:ln>
          <a:effectLst/>
        </p:spPr>
        <p:txBody>
          <a:bodyPr lIns="40342" tIns="20172" rIns="40342" bIns="20172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Dept. of Health and Human Services Office of the Inspector General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4BE6CA-CBEA-0344-E660-0F178A784AB7}"/>
              </a:ext>
            </a:extLst>
          </p:cNvPr>
          <p:cNvSpPr/>
          <p:nvPr/>
        </p:nvSpPr>
        <p:spPr>
          <a:xfrm>
            <a:off x="9415529" y="1714978"/>
            <a:ext cx="2528232" cy="1318166"/>
          </a:xfrm>
          <a:prstGeom prst="roundRect">
            <a:avLst/>
          </a:prstGeom>
          <a:solidFill>
            <a:srgbClr val="E97132">
              <a:alpha val="50000"/>
            </a:srgbClr>
          </a:solidFill>
          <a:ln>
            <a:noFill/>
          </a:ln>
          <a:effectLst/>
        </p:spPr>
        <p:txBody>
          <a:bodyPr lIns="40342" tIns="20172" rIns="40342" bIns="20172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Missouri Secretary of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E5D6F5-3D5B-0290-CB46-4007D61C8DE8}"/>
              </a:ext>
            </a:extLst>
          </p:cNvPr>
          <p:cNvSpPr/>
          <p:nvPr/>
        </p:nvSpPr>
        <p:spPr>
          <a:xfrm>
            <a:off x="1066752" y="3586187"/>
            <a:ext cx="4100967" cy="2392218"/>
          </a:xfrm>
          <a:prstGeom prst="rect">
            <a:avLst/>
          </a:prstGeom>
          <a:solidFill>
            <a:srgbClr val="FFD1D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chemeClr val="tx1"/>
                </a:solidFill>
                <a:latin typeface="Montserrat" pitchFamily="2" charset="0"/>
              </a:rPr>
              <a:t>GitHub Environment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19C8F6-7382-A940-D85C-7099EFBFDACC}"/>
              </a:ext>
            </a:extLst>
          </p:cNvPr>
          <p:cNvSpPr/>
          <p:nvPr/>
        </p:nvSpPr>
        <p:spPr>
          <a:xfrm>
            <a:off x="2186075" y="4658844"/>
            <a:ext cx="1682961" cy="8669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Chat-bot Webpage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6E13B9-C5E3-DA37-AB57-68C663172349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6679814" y="817784"/>
            <a:ext cx="2735716" cy="735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D55206-B3D2-C649-4110-4075A0DADA1D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>
            <a:off x="6679814" y="1553568"/>
            <a:ext cx="2735715" cy="820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C095670-C573-36C9-EF06-E1EECEBFDB24}"/>
              </a:ext>
            </a:extLst>
          </p:cNvPr>
          <p:cNvCxnSpPr>
            <a:cxnSpLocks/>
            <a:stCxn id="18" idx="1"/>
            <a:endCxn id="10" idx="1"/>
          </p:cNvCxnSpPr>
          <p:nvPr/>
        </p:nvCxnSpPr>
        <p:spPr>
          <a:xfrm rot="10800000">
            <a:off x="1944207" y="1543094"/>
            <a:ext cx="241868" cy="3549241"/>
          </a:xfrm>
          <a:prstGeom prst="bentConnector3">
            <a:avLst>
              <a:gd name="adj1" fmla="val 377814"/>
            </a:avLst>
          </a:prstGeom>
          <a:ln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4D4B243-F1F5-D2F0-DD4D-E776EC817815}"/>
              </a:ext>
            </a:extLst>
          </p:cNvPr>
          <p:cNvSpPr txBox="1"/>
          <p:nvPr/>
        </p:nvSpPr>
        <p:spPr>
          <a:xfrm rot="16200000">
            <a:off x="701916" y="2967995"/>
            <a:ext cx="729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Request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54C52EF-67C9-538A-BC62-E55E50F812CE}"/>
              </a:ext>
            </a:extLst>
          </p:cNvPr>
          <p:cNvCxnSpPr>
            <a:cxnSpLocks/>
          </p:cNvCxnSpPr>
          <p:nvPr/>
        </p:nvCxnSpPr>
        <p:spPr>
          <a:xfrm>
            <a:off x="3628150" y="1537475"/>
            <a:ext cx="241868" cy="3549241"/>
          </a:xfrm>
          <a:prstGeom prst="bentConnector3">
            <a:avLst>
              <a:gd name="adj1" fmla="val 488559"/>
            </a:avLst>
          </a:prstGeom>
          <a:ln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6EC8C58-F847-BE04-5BB0-A9C068D059D6}"/>
              </a:ext>
            </a:extLst>
          </p:cNvPr>
          <p:cNvSpPr txBox="1"/>
          <p:nvPr/>
        </p:nvSpPr>
        <p:spPr>
          <a:xfrm rot="5400000">
            <a:off x="4566283" y="3054741"/>
            <a:ext cx="7850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Response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C342EACA-DEA9-F821-0EDF-08DC089D03C0}"/>
              </a:ext>
            </a:extLst>
          </p:cNvPr>
          <p:cNvCxnSpPr>
            <a:cxnSpLocks/>
            <a:stCxn id="11" idx="2"/>
            <a:endCxn id="10" idx="2"/>
          </p:cNvCxnSpPr>
          <p:nvPr/>
        </p:nvCxnSpPr>
        <p:spPr>
          <a:xfrm rot="5400000" flipH="1">
            <a:off x="4306773" y="455498"/>
            <a:ext cx="10475" cy="3052646"/>
          </a:xfrm>
          <a:prstGeom prst="bentConnector3">
            <a:avLst>
              <a:gd name="adj1" fmla="val -2182339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AA891F6-78ED-9B9B-A65B-CD16828CF11C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16200000" flipH="1">
            <a:off x="4306773" y="-411483"/>
            <a:ext cx="10475" cy="3052646"/>
          </a:xfrm>
          <a:prstGeom prst="bentConnector3">
            <a:avLst>
              <a:gd name="adj1" fmla="val -1917814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FE78C9DE-0D56-C855-6480-84B8BE979F6F}"/>
              </a:ext>
            </a:extLst>
          </p:cNvPr>
          <p:cNvCxnSpPr>
            <a:cxnSpLocks/>
          </p:cNvCxnSpPr>
          <p:nvPr/>
        </p:nvCxnSpPr>
        <p:spPr>
          <a:xfrm rot="5400000" flipH="1">
            <a:off x="5625555" y="1557694"/>
            <a:ext cx="866980" cy="12700"/>
          </a:xfrm>
          <a:prstGeom prst="bentConnector5">
            <a:avLst>
              <a:gd name="adj1" fmla="val -26367"/>
              <a:gd name="adj2" fmla="val -13828717"/>
              <a:gd name="adj3" fmla="val 126367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C3EA19E-7D98-ECA1-34ED-E4DADF19B4E6}"/>
              </a:ext>
            </a:extLst>
          </p:cNvPr>
          <p:cNvSpPr txBox="1"/>
          <p:nvPr/>
        </p:nvSpPr>
        <p:spPr>
          <a:xfrm>
            <a:off x="3947174" y="686979"/>
            <a:ext cx="729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Think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70AC63-CDE2-41D5-05C3-FFCC19254B0E}"/>
              </a:ext>
            </a:extLst>
          </p:cNvPr>
          <p:cNvSpPr txBox="1"/>
          <p:nvPr/>
        </p:nvSpPr>
        <p:spPr>
          <a:xfrm>
            <a:off x="3947174" y="1997534"/>
            <a:ext cx="729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Observe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0F3739-B1DC-EAAF-23EE-B9D6D601F99F}"/>
              </a:ext>
            </a:extLst>
          </p:cNvPr>
          <p:cNvSpPr txBox="1"/>
          <p:nvPr/>
        </p:nvSpPr>
        <p:spPr>
          <a:xfrm rot="5400000">
            <a:off x="7572722" y="1419707"/>
            <a:ext cx="729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Action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E6EA45-6C38-A782-561D-DC94C550C472}"/>
              </a:ext>
            </a:extLst>
          </p:cNvPr>
          <p:cNvSpPr txBox="1"/>
          <p:nvPr/>
        </p:nvSpPr>
        <p:spPr>
          <a:xfrm>
            <a:off x="6381005" y="2993860"/>
            <a:ext cx="54696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Limitation: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Free API:</a:t>
            </a:r>
            <a:r>
              <a:rPr lang="en-US" sz="1100" dirty="0"/>
              <a:t> The project uses a free-tier API, which operates on a slower model and is subject to rate limits on both requests per minute (RPM) and requests per day (RPD).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Render Free Backend:</a:t>
            </a:r>
            <a:r>
              <a:rPr lang="en-US" sz="1100" dirty="0"/>
              <a:t> The backend is hosted on Render's free tier, which automatically spins down after 15 minutes of inactivity. When a new request is made after inactivity, the server will take approximately 50 seconds to one minute to wake up before responding.</a:t>
            </a:r>
          </a:p>
          <a:p>
            <a:endParaRPr lang="en-US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568291-CC74-F347-17F6-4F8C18B8712D}"/>
              </a:ext>
            </a:extLst>
          </p:cNvPr>
          <p:cNvSpPr txBox="1"/>
          <p:nvPr/>
        </p:nvSpPr>
        <p:spPr>
          <a:xfrm>
            <a:off x="6380023" y="4500288"/>
            <a:ext cx="5470618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Benefits:</a:t>
            </a:r>
          </a:p>
          <a:p>
            <a:endParaRPr lang="en-US" sz="11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/>
              <a:t>Fully scalable: </a:t>
            </a:r>
            <a:r>
              <a:rPr lang="en-US" altLang="en-US" sz="1100" dirty="0"/>
              <a:t>The cloud-based architecture can be scaled up as demand grows without changes to the underlying codebase.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/>
              <a:t>Device independent: </a:t>
            </a:r>
            <a:r>
              <a:rPr lang="en-US" altLang="en-US" sz="1100" dirty="0"/>
              <a:t>All components are hosted in the cloud, meaning the system is not dependent on any local machine or environment.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/>
              <a:t>Production-ready deliverable: </a:t>
            </a:r>
            <a:r>
              <a:rPr lang="en-US" altLang="en-US" sz="1100" dirty="0"/>
              <a:t>The system is deployed as a fully functional end product, not a local prototype or personal project.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/>
              <a:t>Improved security: </a:t>
            </a:r>
            <a:r>
              <a:rPr lang="en-US" altLang="en-US" sz="1100" dirty="0"/>
              <a:t>Sensitive configuration and API keys are managed through environment variables rather than being hardcoded or stored locally.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100" b="1" dirty="0"/>
              <a:t>Continuous deployment: </a:t>
            </a:r>
            <a:r>
              <a:rPr lang="en-US" altLang="en-US" sz="1100" dirty="0"/>
              <a:t>Any changes pushed to the GitHub repository are automatically reflected in the backend via Render's GitHub integration, eliminating manual redeployment. </a:t>
            </a:r>
          </a:p>
          <a:p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9F601-4E48-22C8-8AEA-08466CC6EF0D}"/>
              </a:ext>
            </a:extLst>
          </p:cNvPr>
          <p:cNvSpPr txBox="1"/>
          <p:nvPr/>
        </p:nvSpPr>
        <p:spPr>
          <a:xfrm>
            <a:off x="553585" y="6413815"/>
            <a:ext cx="5542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Codes for front and back end will be stored on GitHub.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CB1D38-D250-7698-FBA3-33DB7BEB8004}"/>
              </a:ext>
            </a:extLst>
          </p:cNvPr>
          <p:cNvSpPr txBox="1"/>
          <p:nvPr/>
        </p:nvSpPr>
        <p:spPr>
          <a:xfrm rot="20583065">
            <a:off x="8199365" y="780506"/>
            <a:ext cx="729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Scrape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C54DE-B3C6-4C6B-FB1A-91FEF9B55A17}"/>
              </a:ext>
            </a:extLst>
          </p:cNvPr>
          <p:cNvSpPr txBox="1"/>
          <p:nvPr/>
        </p:nvSpPr>
        <p:spPr>
          <a:xfrm rot="1027256">
            <a:off x="8157946" y="1816584"/>
            <a:ext cx="729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Scrape</a:t>
            </a:r>
          </a:p>
        </p:txBody>
      </p:sp>
    </p:spTree>
    <p:extLst>
      <p:ext uri="{BB962C8B-B14F-4D97-AF65-F5344CB8AC3E}">
        <p14:creationId xmlns:p14="http://schemas.microsoft.com/office/powerpoint/2010/main" val="223105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045_RD01 xmlns="2112e3b6-ffbe-4e3c-bbd7-445dbc30305a" xsi:nil="true"/>
    <lcf76f155ced4ddcb4097134ff3c332f xmlns="2112e3b6-ffbe-4e3c-bbd7-445dbc30305a">
      <Terms xmlns="http://schemas.microsoft.com/office/infopath/2007/PartnerControls"/>
    </lcf76f155ced4ddcb4097134ff3c332f>
    <TaxCatchAll xmlns="7c56d1bc-41ac-4de6-9e35-a477c329059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949090C73B444AB239746BF8BCC645" ma:contentTypeVersion="13" ma:contentTypeDescription="Create a new document." ma:contentTypeScope="" ma:versionID="702de30e9a7459181c8570fc45067738">
  <xsd:schema xmlns:xsd="http://www.w3.org/2001/XMLSchema" xmlns:xs="http://www.w3.org/2001/XMLSchema" xmlns:p="http://schemas.microsoft.com/office/2006/metadata/properties" xmlns:ns2="2112e3b6-ffbe-4e3c-bbd7-445dbc30305a" xmlns:ns3="7c56d1bc-41ac-4de6-9e35-a477c329059c" targetNamespace="http://schemas.microsoft.com/office/2006/metadata/properties" ma:root="true" ma:fieldsID="2f709ef23b708b2d5ab7da793e6bfe67" ns2:_="" ns3:_="">
    <xsd:import namespace="2112e3b6-ffbe-4e3c-bbd7-445dbc30305a"/>
    <xsd:import namespace="7c56d1bc-41ac-4de6-9e35-a477c32905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_x0045_RD01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12e3b6-ffbe-4e3c-bbd7-445dbc3030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45_RD01" ma:index="16" nillable="true" ma:displayName="ERD 01" ma:description="https://lucid.app/lucidchart/da2a6694-3f7a-4134-ae67-4a04a9fe31b6/edit?beaconFlowId=F06FD960F3E0842E&amp;page=0_0&amp;invitationId=inv_3d273d02-89f3-4c80-a935-bf49e75fe8b1#" ma:format="Dropdown" ma:internalName="_x0045_RD01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e20e570-3a27-4eff-9ea0-d3488a33f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56d1bc-41ac-4de6-9e35-a477c329059c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277181a-e768-45e3-ad48-e3ddea6c052c}" ma:internalName="TaxCatchAll" ma:showField="CatchAllData" ma:web="7c56d1bc-41ac-4de6-9e35-a477c32905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2ACB95-691B-4DDA-B7F1-132F62F861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5CD298-4948-4667-A2AE-085721A021E9}">
  <ds:schemaRefs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7c56d1bc-41ac-4de6-9e35-a477c329059c"/>
    <ds:schemaRef ds:uri="http://purl.org/dc/dcmitype/"/>
    <ds:schemaRef ds:uri="http://schemas.microsoft.com/office/infopath/2007/PartnerControls"/>
    <ds:schemaRef ds:uri="2112e3b6-ffbe-4e3c-bbd7-445dbc30305a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ADB4E64-2B8C-4476-895C-EB4AA920E412}">
  <ds:schemaRefs>
    <ds:schemaRef ds:uri="2112e3b6-ffbe-4e3c-bbd7-445dbc30305a"/>
    <ds:schemaRef ds:uri="7c56d1bc-41ac-4de6-9e35-a477c32905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249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Kamath, Udyavara Narsim (MU-Student)</dc:creator>
  <cp:lastModifiedBy>Kamath, Udyavara Narsim (MU-Student)</cp:lastModifiedBy>
  <cp:revision>2</cp:revision>
  <dcterms:created xsi:type="dcterms:W3CDTF">2026-02-27T23:14:52Z</dcterms:created>
  <dcterms:modified xsi:type="dcterms:W3CDTF">2026-05-22T05:30:11Z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0x01010056949090C73B444AB239746BF8BCC645</vt:lpwstr>
  </property>
  <property fmtid="{D5CDD505-2E9C-101B-9397-08002B2CF9AE}" pid="3" name="MediaServiceImageTags">
    <vt:lpwstr/>
  </property>
</Properties>
</file>